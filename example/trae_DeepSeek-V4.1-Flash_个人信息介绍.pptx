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00A9FF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Informer 复现 · 30 轮不早停</c:v>
                </c:pt>
                <c:pt idx="1">
                  <c:v>Informer 复现 · 6 轮早停</c:v>
                </c:pt>
                <c:pt idx="2">
                  <c:v>NDVI · 气候态-AR 混合</c:v>
                </c:pt>
                <c:pt idx="3">
                  <c:v>火点预测 · KNN 状态空间重构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0.45</c:v>
                </c:pt>
                <c:pt idx="1">
                  <c:v>0.77</c:v>
                </c:pt>
                <c:pt idx="2">
                  <c:v>0.801</c:v>
                </c:pt>
                <c:pt idx="3">
                  <c:v>0.971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200" b="0">
                  <a:solidFill>
                    <a:srgbClr val="F2F6FA"/>
                  </a:solidFill>
                  <a:latin typeface="微软雅黑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8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 w="9525">
            <a:solidFill>
              <a:srgbClr val="27323F"/>
            </a:solidFill>
          </a:ln>
        </c:spPr>
        <c:txPr>
          <a:bodyPr/>
          <a:lstStyle/>
          <a:p>
            <a:pPr>
              <a:defRPr sz="1100">
                <a:solidFill>
                  <a:srgbClr val="C7D2DD"/>
                </a:solidFill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C7D2DD"/>
          </a:solidFill>
          <a:latin typeface="微软雅黑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测试 R²</c:v>
                </c:pt>
              </c:strCache>
            </c:strRef>
          </c:tx>
          <c:spPr>
            <a:solidFill>
              <a:srgbClr val="00A9FF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6 轮早停</c:v>
                </c:pt>
                <c:pt idx="1">
                  <c:v>30 轮不早停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0.77</c:v>
                </c:pt>
                <c:pt idx="1">
                  <c:v>0.45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250" b="0">
                  <a:solidFill>
                    <a:srgbClr val="F2F6FA"/>
                  </a:solidFill>
                  <a:latin typeface="微软雅黑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4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27323F"/>
            </a:solidFill>
          </a:ln>
        </c:spPr>
        <c:txPr>
          <a:bodyPr/>
          <a:lstStyle/>
          <a:p>
            <a:pPr>
              <a:defRPr sz="1100">
                <a:solidFill>
                  <a:srgbClr val="C7D2DD"/>
                </a:solidFill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C7D2DD"/>
          </a:solidFill>
          <a:latin typeface="微软雅黑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我是 WJL，方向是 AI Agent、数据可视化与全栈开发，GitHub 与 Gitee 都是 WJLGraph。开场这三组数字是整份介绍的索引：17 个以上公开仓库、8 个以上完整项目、5 大技术方向，后面每一页都能对回具体产物。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六类能力在同一批项目里互相咬合：前端把研判结果讲清楚，后端负责流式与状态恢复，AI 工程负责多 Agent 编排与 RAG，Agent 安全负责红线判定，算法负责建模，工程美学负责交付时的界面质感。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火防三部曲从建模起步：智火卫渝用三个模型解决火点稀疏与气象趋势，云南大屏把 17 项功能落地，焰哨系统把研判交给多 Agent 编排，Gauntlet 再为它建一道红队防线，一条线走完建模、可视化与系统三类能力。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焰哨系统用 LangGraph 编排 8 个节点：先解析任务，双路并行 fan-out，join 汇聚后生成报告，评审循环兜底，最后过人工审批门。SSE 把节点级进度推给前端，PostgresSaver 让任意节点中断后都能续跑。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Gauntlet 盯的是间接注入通路：用 canary 标记判定工具返回是否泄露指令，再按四级给出 defense_score。混沌注入度量 recovery_rate，与焰哨 chaos hook 联动，形成攻击、防御、修复的闭环。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毕业设计把三个模型分而治之：KNN 做状态空间重构对付火点稀疏，测试集 R² 到 0.971；Attention-LSTM 预测气象趋势，气候态-AR 混合模型预测 NDVI 得到 0.801，最后合成 FE 五分项火险指数五级分档。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两组算法实验都留了对照：Informer 复现跑「6 轮早停 vs 30 轮不早停」，R² 从 0.45 提到 0.77；协同过滤从零实现 UserCF 与 ItemCF，精确率 0.96 与 0.99，并落地到臻享云牧平台。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这一页是可核查的数字索引：火点预测 R² 0.971、NDVI 0.801、推荐精确率 0.96 与 0.99、LangGraph 8 节点、四级防御判定、17 项大屏功能、Gitee 三星、17 个开源 skill 的蒸馏规模。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时间线按能力叠加的顺序读：前端筑基、全栈与初触 AI、机器学习建模、时间序列复现、推荐算法落地、毕业设计大屏、AI Agent、Agent 安全、开源沉淀。每一步都对应一个可运行的产物，可以用仓库和实验记录核对。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收尾落在开源上：Haute 把 GSAP 动效蒸馏成六大风格体系、十二种模式与十节引擎纪律，并打通四路分发；Universal PPT 把 17 个开源 skill 收敛成六类场景、30 多种风格与 8 条渲染路径。两套均为 MIT。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.jpg"/>
          <p:cNvPicPr>
            <a:picLocks noChangeAspect="1"/>
          </p:cNvPicPr>
          <p:nvPr/>
        </p:nvPicPr>
        <p:blipFill>
          <a:blip r:embed="rId2"/>
          <a:srcRect t="5639" b="5639"/>
          <a:stretch>
            <a:fillRect/>
          </a:stretch>
        </p:blipFill>
        <p:spPr>
          <a:xfrm>
            <a:off x="6391656" y="0"/>
            <a:ext cx="5797296" cy="6858000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777240" y="1298448"/>
            <a:ext cx="5120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00A9FF"/>
                </a:solidFill>
                <a:latin typeface="微软雅黑"/>
                <a:ea typeface="微软雅黑"/>
              </a:rPr>
              <a:t>AI Agent  ×  数据可视化  ×  全栈开发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5486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300" b="1">
                <a:solidFill>
                  <a:srgbClr val="F2F6FA"/>
                </a:solidFill>
                <a:latin typeface="微软雅黑"/>
                <a:ea typeface="微软雅黑"/>
              </a:rPr>
              <a:t>从火险大屏到多 Agent 系统</a:t>
            </a:r>
          </a:p>
          <a:p>
            <a:pPr algn="l">
              <a:lnSpc>
                <a:spcPct val="118000"/>
              </a:lnSpc>
            </a:pPr>
            <a:r>
              <a:rPr sz="3300" b="1">
                <a:solidFill>
                  <a:srgbClr val="F2F6FA"/>
                </a:solidFill>
                <a:latin typeface="微软雅黑"/>
                <a:ea typeface="微软雅黑"/>
              </a:rPr>
              <a:t>让系统替你研判数据，</a:t>
            </a:r>
          </a:p>
          <a:p>
            <a:pPr algn="l">
              <a:lnSpc>
                <a:spcPct val="118000"/>
              </a:lnSpc>
            </a:pPr>
            <a:r>
              <a:rPr sz="3300" b="1">
                <a:solidFill>
                  <a:srgbClr val="82D8FF"/>
                </a:solidFill>
                <a:latin typeface="微软雅黑"/>
                <a:ea typeface="微软雅黑"/>
              </a:rPr>
              <a:t>并为它亲手建一道红队防线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041648"/>
            <a:ext cx="5120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8D9AAC"/>
                </a:solidFill>
                <a:latin typeface="微软雅黑"/>
                <a:ea typeface="微软雅黑"/>
              </a:rPr>
              <a:t>WJL　·　GitHub / Gitee  @WJLGraph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138928"/>
            <a:ext cx="1691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700" b="1">
                <a:solidFill>
                  <a:srgbClr val="00A9FF"/>
                </a:solidFill>
                <a:latin typeface="Consolas"/>
                <a:ea typeface="Consolas"/>
              </a:rPr>
              <a:t>17+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742432"/>
            <a:ext cx="1691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00" b="0">
                <a:solidFill>
                  <a:srgbClr val="8D9AAC"/>
                </a:solidFill>
                <a:latin typeface="微软雅黑"/>
                <a:ea typeface="微软雅黑"/>
              </a:rPr>
              <a:t>开源仓库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5138928"/>
            <a:ext cx="1691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700" b="1">
                <a:solidFill>
                  <a:srgbClr val="00A9FF"/>
                </a:solidFill>
                <a:latin typeface="Consolas"/>
                <a:ea typeface="Consolas"/>
              </a:rPr>
              <a:t>8+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5742432"/>
            <a:ext cx="1691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00" b="0">
                <a:solidFill>
                  <a:srgbClr val="8D9AAC"/>
                </a:solidFill>
                <a:latin typeface="微软雅黑"/>
                <a:ea typeface="微软雅黑"/>
              </a:rPr>
              <a:t>完整项目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5138928"/>
            <a:ext cx="1691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700" b="1">
                <a:solidFill>
                  <a:srgbClr val="00A9FF"/>
                </a:solidFill>
                <a:latin typeface="Consolas"/>
                <a:ea typeface="Consolas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5742432"/>
            <a:ext cx="1691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00" b="0">
                <a:solidFill>
                  <a:srgbClr val="8D9AAC"/>
                </a:solidFill>
                <a:latin typeface="微软雅黑"/>
                <a:ea typeface="微软雅黑"/>
              </a:rPr>
              <a:t>大技术方向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02336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200" b="1">
                <a:solidFill>
                  <a:srgbClr val="F2F6FA"/>
                </a:solidFill>
                <a:latin typeface="微软雅黑"/>
                <a:ea typeface="微软雅黑"/>
              </a:rPr>
              <a:t>六类能力都落在真实项目里：前端、后端、AI 工程、Agent 安全、算法、工程美学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426464"/>
            <a:ext cx="11155680" cy="658368"/>
          </a:xfrm>
          <a:prstGeom prst="rect">
            <a:avLst/>
          </a:prstGeom>
          <a:solidFill>
            <a:srgbClr val="141A22"/>
          </a:solidFill>
          <a:ln w="9525">
            <a:solidFill>
              <a:srgbClr val="273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572768"/>
            <a:ext cx="106984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>
                <a:solidFill>
                  <a:srgbClr val="82D8FF"/>
                </a:solidFill>
                <a:latin typeface="微软雅黑"/>
                <a:ea typeface="微软雅黑"/>
              </a:rPr>
              <a:t>定位：从火险大屏到多 Agent 系统，把「看数据」升级为「由系统替你研判数据」，并亲手为它打造红队防线。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2304288"/>
            <a:ext cx="3584448" cy="1965960"/>
          </a:xfrm>
          <a:prstGeom prst="rect">
            <a:avLst/>
          </a:prstGeom>
          <a:solidFill>
            <a:srgbClr val="141A22"/>
          </a:solidFill>
          <a:ln w="9525">
            <a:solidFill>
              <a:srgbClr val="273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505456"/>
            <a:ext cx="31455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>
                <a:solidFill>
                  <a:srgbClr val="00A9FF"/>
                </a:solidFill>
                <a:latin typeface="微软雅黑"/>
                <a:ea typeface="微软雅黑"/>
              </a:rPr>
              <a:t>前端开发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871216"/>
            <a:ext cx="314553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00" b="0">
                <a:solidFill>
                  <a:srgbClr val="8D9AAC"/>
                </a:solidFill>
                <a:latin typeface="微软雅黑"/>
                <a:ea typeface="微软雅黑"/>
              </a:rPr>
              <a:t>Vue2 / Vue3 · Vite · Pinia · Element Plus · ECharts · Three.js · OpenLayers · 微信小程序 · GSAP · Lenis</a:t>
            </a:r>
          </a:p>
        </p:txBody>
      </p:sp>
      <p:sp>
        <p:nvSpPr>
          <p:cNvPr id="9" name="Rectangle 8"/>
          <p:cNvSpPr/>
          <p:nvPr/>
        </p:nvSpPr>
        <p:spPr>
          <a:xfrm>
            <a:off x="4407407" y="2304288"/>
            <a:ext cx="3584448" cy="1965960"/>
          </a:xfrm>
          <a:prstGeom prst="rect">
            <a:avLst/>
          </a:prstGeom>
          <a:solidFill>
            <a:srgbClr val="141A22"/>
          </a:solidFill>
          <a:ln w="9525">
            <a:solidFill>
              <a:srgbClr val="273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26864" y="2505456"/>
            <a:ext cx="31455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>
                <a:solidFill>
                  <a:srgbClr val="00A9FF"/>
                </a:solidFill>
                <a:latin typeface="微软雅黑"/>
                <a:ea typeface="微软雅黑"/>
              </a:rPr>
              <a:t>后端工程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871216"/>
            <a:ext cx="314553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00" b="0">
                <a:solidFill>
                  <a:srgbClr val="8D9AAC"/>
                </a:solidFill>
                <a:latin typeface="微软雅黑"/>
                <a:ea typeface="微软雅黑"/>
              </a:rPr>
              <a:t>Python · FastAPI · SQLAlchemy · PostgreSQL · JWT 认证 · SSE 流式 · Flask · Alembic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93023" y="2304288"/>
            <a:ext cx="3584448" cy="1965960"/>
          </a:xfrm>
          <a:prstGeom prst="rect">
            <a:avLst/>
          </a:prstGeom>
          <a:solidFill>
            <a:srgbClr val="141A22"/>
          </a:solidFill>
          <a:ln w="9525">
            <a:solidFill>
              <a:srgbClr val="273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505456"/>
            <a:ext cx="31455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>
                <a:solidFill>
                  <a:srgbClr val="00A9FF"/>
                </a:solidFill>
                <a:latin typeface="微软雅黑"/>
                <a:ea typeface="微软雅黑"/>
              </a:rPr>
              <a:t>AI 工程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871216"/>
            <a:ext cx="314553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00" b="0">
                <a:solidFill>
                  <a:srgbClr val="8D9AAC"/>
                </a:solidFill>
                <a:latin typeface="微软雅黑"/>
                <a:ea typeface="微软雅黑"/>
              </a:rPr>
              <a:t>LangChain / LangGraph · 多 Agent 编排 · RAG 知识库 · HITL 人工审批 · Prompt 工程 · MCP 协议 · Langfuse · OpenAI / DashScope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4434840"/>
            <a:ext cx="3584448" cy="1965960"/>
          </a:xfrm>
          <a:prstGeom prst="rect">
            <a:avLst/>
          </a:prstGeom>
          <a:solidFill>
            <a:srgbClr val="141A22"/>
          </a:solidFill>
          <a:ln w="9525">
            <a:solidFill>
              <a:srgbClr val="273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4636007"/>
            <a:ext cx="31455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>
                <a:solidFill>
                  <a:srgbClr val="00A9FF"/>
                </a:solidFill>
                <a:latin typeface="微软雅黑"/>
                <a:ea typeface="微软雅黑"/>
              </a:rPr>
              <a:t>Agent 安全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5001768"/>
            <a:ext cx="314553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00" b="0">
                <a:solidFill>
                  <a:srgbClr val="8D9AAC"/>
                </a:solidFill>
                <a:latin typeface="微软雅黑"/>
                <a:ea typeface="微软雅黑"/>
              </a:rPr>
              <a:t>红队测试 · 提示注入（直接 / 间接 / 工具返回夹带）· 蜜罐 · 混沌注入 · defense_score 量化判定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07407" y="4434840"/>
            <a:ext cx="3584448" cy="1965960"/>
          </a:xfrm>
          <a:prstGeom prst="rect">
            <a:avLst/>
          </a:prstGeom>
          <a:solidFill>
            <a:srgbClr val="141A22"/>
          </a:solidFill>
          <a:ln w="9525">
            <a:solidFill>
              <a:srgbClr val="273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26864" y="4636007"/>
            <a:ext cx="31455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>
                <a:solidFill>
                  <a:srgbClr val="00A9FF"/>
                </a:solidFill>
                <a:latin typeface="微软雅黑"/>
                <a:ea typeface="微软雅黑"/>
              </a:rPr>
              <a:t>算法与数据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5001768"/>
            <a:ext cx="314553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00" b="0">
                <a:solidFill>
                  <a:srgbClr val="8D9AAC"/>
                </a:solidFill>
                <a:latin typeface="微软雅黑"/>
                <a:ea typeface="微软雅黑"/>
              </a:rPr>
              <a:t>KNN 状态空间重构 · Attention-LSTM · Informer · UserCF / ItemCF · scikit-learn · pandas / numpy · GeoPandas / Shapely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93023" y="4434840"/>
            <a:ext cx="3584448" cy="1965960"/>
          </a:xfrm>
          <a:prstGeom prst="rect">
            <a:avLst/>
          </a:prstGeom>
          <a:solidFill>
            <a:srgbClr val="141A22"/>
          </a:solidFill>
          <a:ln w="9525">
            <a:solidFill>
              <a:srgbClr val="273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4636007"/>
            <a:ext cx="31455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>
                <a:solidFill>
                  <a:srgbClr val="00A9FF"/>
                </a:solidFill>
                <a:latin typeface="微软雅黑"/>
                <a:ea typeface="微软雅黑"/>
              </a:rPr>
              <a:t>工程美学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5001768"/>
            <a:ext cx="314553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00" b="0">
                <a:solidFill>
                  <a:srgbClr val="8D9AAC"/>
                </a:solidFill>
                <a:latin typeface="微软雅黑"/>
                <a:ea typeface="微软雅黑"/>
              </a:rPr>
              <a:t>GSAP 动效体系 · 暗亮双主题 · 零第三方依赖实现 · 指挥中心级数据大屏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02336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200" b="1">
                <a:solidFill>
                  <a:srgbClr val="F2F6FA"/>
                </a:solidFill>
                <a:latin typeface="微软雅黑"/>
                <a:ea typeface="微软雅黑"/>
              </a:rPr>
              <a:t>火防三部曲是一条线：先让数据看得见，再让系统研判数据，最后守护系统本身</a:t>
            </a:r>
          </a:p>
        </p:txBody>
      </p:sp>
      <p:pic>
        <p:nvPicPr>
          <p:cNvPr id="4" name="Picture 3" descr="trilogy.jpg"/>
          <p:cNvPicPr>
            <a:picLocks noChangeAspect="1"/>
          </p:cNvPicPr>
          <p:nvPr/>
        </p:nvPicPr>
        <p:blipFill>
          <a:blip r:embed="rId2"/>
          <a:srcRect l="5409" r="5409"/>
          <a:stretch>
            <a:fillRect/>
          </a:stretch>
        </p:blipFill>
        <p:spPr>
          <a:xfrm>
            <a:off x="621792" y="1371600"/>
            <a:ext cx="11155680" cy="3127248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621792" y="4736592"/>
            <a:ext cx="35844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200" b="1">
                <a:solidFill>
                  <a:srgbClr val="00A9FF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5230368"/>
            <a:ext cx="35844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400" b="1">
                <a:solidFill>
                  <a:srgbClr val="F2F6FA"/>
                </a:solidFill>
                <a:latin typeface="微软雅黑"/>
                <a:ea typeface="微软雅黑"/>
              </a:rPr>
              <a:t>智火卫渝 · 云南火险大屏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5596128"/>
            <a:ext cx="358444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8D9AAC"/>
                </a:solidFill>
                <a:latin typeface="微软雅黑"/>
                <a:ea typeface="微软雅黑"/>
              </a:rPr>
              <a:t>KNN + Attention-LSTM + 气候态-AR 三模型分而治之；17 项功能大屏落地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07407" y="4736592"/>
            <a:ext cx="35844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200" b="1">
                <a:solidFill>
                  <a:srgbClr val="00A9FF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7" y="5230368"/>
            <a:ext cx="35844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400" b="1">
                <a:solidFill>
                  <a:srgbClr val="F2F6FA"/>
                </a:solidFill>
                <a:latin typeface="微软雅黑"/>
                <a:ea typeface="微软雅黑"/>
              </a:rPr>
              <a:t>焰哨系统 · Fire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407" y="5596128"/>
            <a:ext cx="358444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8D9AAC"/>
                </a:solidFill>
                <a:latin typeface="微软雅黑"/>
                <a:ea typeface="微软雅黑"/>
              </a:rPr>
              <a:t>LangGraph 8 节点编排 + SSE 节点级推送 + HITL 审批门 + RAG 报告中心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3023" y="4736592"/>
            <a:ext cx="35844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200" b="1">
                <a:solidFill>
                  <a:srgbClr val="00A9FF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3023" y="5230368"/>
            <a:ext cx="35844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400" b="1">
                <a:solidFill>
                  <a:srgbClr val="F2F6FA"/>
                </a:solidFill>
                <a:latin typeface="微软雅黑"/>
                <a:ea typeface="微软雅黑"/>
              </a:rPr>
              <a:t>Agent-Gauntlet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3023" y="5596128"/>
            <a:ext cx="358444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8D9AAC"/>
                </a:solidFill>
                <a:latin typeface="微软雅黑"/>
                <a:ea typeface="微软雅黑"/>
              </a:rPr>
              <a:t>红队评测：故障注入 + 对抗攻击 + defense_score 判定评分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02336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200" b="1">
                <a:solidFill>
                  <a:srgbClr val="F2F6FA"/>
                </a:solidFill>
                <a:latin typeface="微软雅黑"/>
                <a:ea typeface="微软雅黑"/>
              </a:rPr>
              <a:t>LangGraph 八节点编排把研判全流程自动化，同时保留了人工审批门</a:t>
            </a:r>
          </a:p>
        </p:txBody>
      </p:sp>
      <p:pic>
        <p:nvPicPr>
          <p:cNvPr id="4" name="Picture 3" descr="fireagent.jpg"/>
          <p:cNvPicPr>
            <a:picLocks noChangeAspect="1"/>
          </p:cNvPicPr>
          <p:nvPr/>
        </p:nvPicPr>
        <p:blipFill>
          <a:blip r:embed="rId2"/>
          <a:srcRect l="10674" r="10674"/>
          <a:stretch>
            <a:fillRect/>
          </a:stretch>
        </p:blipFill>
        <p:spPr>
          <a:xfrm>
            <a:off x="621792" y="1371600"/>
            <a:ext cx="5120640" cy="4882896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5989320" y="137160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900" b="1">
                <a:solidFill>
                  <a:srgbClr val="F2F6FA"/>
                </a:solidFill>
                <a:latin typeface="微软雅黑"/>
                <a:ea typeface="微软雅黑"/>
              </a:rPr>
              <a:t>焰哨系统 · Fire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9320" y="1792224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00" b="0">
                <a:solidFill>
                  <a:srgbClr val="8D9AAC"/>
                </a:solidFill>
                <a:latin typeface="微软雅黑"/>
                <a:ea typeface="微软雅黑"/>
              </a:rPr>
              <a:t>2026.09 — 至今，持续迭代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2121408"/>
            <a:ext cx="5577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>
                <a:solidFill>
                  <a:srgbClr val="82D8FF"/>
                </a:solidFill>
                <a:latin typeface="微软雅黑"/>
                <a:ea typeface="微软雅黑"/>
              </a:rPr>
              <a:t>技术栈：Vue3 + FastAPI + LangGraph + PostgresSaver + SSE 流式 + RAG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2743200"/>
            <a:ext cx="55778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0">
                <a:solidFill>
                  <a:srgbClr val="F2F6FA"/>
                </a:solidFill>
                <a:latin typeface="微软雅黑"/>
                <a:ea typeface="微软雅黑"/>
              </a:rPr>
              <a:t>•  基于 LangGraph 编排 8 节点工作流：解析任务 → 双路并行 fan-out → join 汇聚 → 报告生成 → 评审循环 → HITL 审批门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0">
                <a:solidFill>
                  <a:srgbClr val="F2F6FA"/>
                </a:solidFill>
                <a:latin typeface="微软雅黑"/>
                <a:ea typeface="微软雅黑"/>
              </a:rPr>
              <a:t>•  使用 SSE 节点级进度推送 + PostgresSaver checkpoint，长任务不再黑盒，任意节点中断都能恢复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0">
                <a:solidFill>
                  <a:srgbClr val="F2F6FA"/>
                </a:solidFill>
                <a:latin typeface="微软雅黑"/>
                <a:ea typeface="微软雅黑"/>
              </a:rPr>
              <a:t>•  针对 LLM 输出不稳定，落地 review_report 评审循环 + 失败模板兜底双重降级，报告服务零中断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0">
                <a:solidFill>
                  <a:srgbClr val="F2F6FA"/>
                </a:solidFill>
                <a:latin typeface="微软雅黑"/>
                <a:ea typeface="微软雅黑"/>
              </a:rPr>
              <a:t>•  构建 Vue3 八大模块前端：2D/3D 数字孪生、明暗双主题、全链路语音交互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02336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200" b="1">
                <a:solidFill>
                  <a:srgbClr val="F2F6FA"/>
                </a:solidFill>
                <a:latin typeface="微软雅黑"/>
                <a:ea typeface="微软雅黑"/>
              </a:rPr>
              <a:t>四级防御判定把 Agent 安全从主观感觉变成可回归对比的分数</a:t>
            </a:r>
          </a:p>
        </p:txBody>
      </p:sp>
      <p:pic>
        <p:nvPicPr>
          <p:cNvPr id="4" name="Picture 3" descr="gauntlet.jpg"/>
          <p:cNvPicPr>
            <a:picLocks noChangeAspect="1"/>
          </p:cNvPicPr>
          <p:nvPr/>
        </p:nvPicPr>
        <p:blipFill>
          <a:blip r:embed="rId2"/>
          <a:srcRect l="11096" r="11096"/>
          <a:stretch>
            <a:fillRect/>
          </a:stretch>
        </p:blipFill>
        <p:spPr>
          <a:xfrm>
            <a:off x="6519672" y="1371600"/>
            <a:ext cx="5065776" cy="4882896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621792" y="137160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900" b="1">
                <a:solidFill>
                  <a:srgbClr val="F2F6FA"/>
                </a:solidFill>
                <a:latin typeface="微软雅黑"/>
                <a:ea typeface="微软雅黑"/>
              </a:rPr>
              <a:t>Agent-Gauntlet · 红队测试平台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792224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00" b="0">
                <a:solidFill>
                  <a:srgbClr val="8D9AAC"/>
                </a:solidFill>
                <a:latin typeface="微软雅黑"/>
                <a:ea typeface="微软雅黑"/>
              </a:rPr>
              <a:t>2026.10 　技术栈：Python + YAML Payloads + CLI 工具链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286000"/>
            <a:ext cx="1298448" cy="548640"/>
          </a:xfrm>
          <a:prstGeom prst="roundRect">
            <a:avLst>
              <a:gd name="adj" fmla="val 18000"/>
            </a:avLst>
          </a:prstGeom>
          <a:solidFill>
            <a:srgbClr val="141A22"/>
          </a:solidFill>
          <a:ln w="9525">
            <a:solidFill>
              <a:srgbClr val="00A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395728"/>
            <a:ext cx="11887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850" b="1">
                <a:solidFill>
                  <a:srgbClr val="82D8FF"/>
                </a:solidFill>
                <a:latin typeface="Consolas"/>
                <a:ea typeface="Consolas"/>
              </a:rPr>
              <a:t>LEAKED_PROMPT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48256" y="2286000"/>
            <a:ext cx="1298448" cy="548640"/>
          </a:xfrm>
          <a:prstGeom prst="roundRect">
            <a:avLst>
              <a:gd name="adj" fmla="val 18000"/>
            </a:avLst>
          </a:prstGeom>
          <a:solidFill>
            <a:srgbClr val="141A22"/>
          </a:solidFill>
          <a:ln w="9525">
            <a:solidFill>
              <a:srgbClr val="00A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2395728"/>
            <a:ext cx="11887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850" b="1">
                <a:solidFill>
                  <a:srgbClr val="82D8FF"/>
                </a:solidFill>
                <a:latin typeface="Consolas"/>
                <a:ea typeface="Consolas"/>
              </a:rPr>
              <a:t>COMPROMISED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286000"/>
            <a:ext cx="1298448" cy="548640"/>
          </a:xfrm>
          <a:prstGeom prst="roundRect">
            <a:avLst>
              <a:gd name="adj" fmla="val 18000"/>
            </a:avLst>
          </a:prstGeom>
          <a:solidFill>
            <a:srgbClr val="141A22"/>
          </a:solidFill>
          <a:ln w="9525">
            <a:solidFill>
              <a:srgbClr val="00A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9584" y="2395728"/>
            <a:ext cx="11887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850" b="1">
                <a:solidFill>
                  <a:srgbClr val="82D8FF"/>
                </a:solidFill>
                <a:latin typeface="Consolas"/>
                <a:ea typeface="Consolas"/>
              </a:rPr>
              <a:t>NOT_TRIGGERED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01183" y="2286000"/>
            <a:ext cx="1298448" cy="548640"/>
          </a:xfrm>
          <a:prstGeom prst="roundRect">
            <a:avLst>
              <a:gd name="adj" fmla="val 18000"/>
            </a:avLst>
          </a:prstGeom>
          <a:solidFill>
            <a:srgbClr val="141A22"/>
          </a:solidFill>
          <a:ln w="9525">
            <a:solidFill>
              <a:srgbClr val="00A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56047" y="2395728"/>
            <a:ext cx="11887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850" b="1">
                <a:solidFill>
                  <a:srgbClr val="82D8FF"/>
                </a:solidFill>
                <a:latin typeface="Consolas"/>
                <a:ea typeface="Consolas"/>
              </a:rPr>
              <a:t>BLOCKED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2944368"/>
            <a:ext cx="5577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1050" b="0">
                <a:solidFill>
                  <a:srgbClr val="8D9AAC"/>
                </a:solidFill>
                <a:latin typeface="微软雅黑"/>
                <a:ea typeface="微软雅黑"/>
              </a:rPr>
              <a:t>四级防御判定 → defense_score 量化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401568"/>
            <a:ext cx="55778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0">
                <a:solidFill>
                  <a:srgbClr val="F2F6FA"/>
                </a:solidFill>
                <a:latin typeface="微软雅黑"/>
                <a:ea typeface="微软雅黑"/>
              </a:rPr>
              <a:t>•  针对 Agent 系统的间接注入风险，实现工具返回夹带注入器（字符串追加 / 字典注字段），复现最隐蔽的攻击通路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0">
                <a:solidFill>
                  <a:srgbClr val="F2F6FA"/>
                </a:solidFill>
                <a:latin typeface="微软雅黑"/>
                <a:ea typeface="微软雅黑"/>
              </a:rPr>
              <a:t>•  基于 canary 标记与四级防御判定量化 defense_score，安全水位可回归对比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0">
                <a:solidFill>
                  <a:srgbClr val="F2F6FA"/>
                </a:solidFill>
                <a:latin typeface="微软雅黑"/>
                <a:ea typeface="微软雅黑"/>
              </a:rPr>
              <a:t>•  使用混沌故障注入度量 recovery_rate，与焰哨 env 门控 chaos hook 联动，形成「攻击 — 防御 — 修复」安全闭环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02336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200" b="1">
                <a:solidFill>
                  <a:srgbClr val="F2F6FA"/>
                </a:solidFill>
                <a:latin typeface="微软雅黑"/>
                <a:ea typeface="微软雅黑"/>
              </a:rPr>
              <a:t>三模型分而治之，把火点预测的测试集 R² 推到 0.971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21792" y="1572768"/>
          <a:ext cx="653796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7607808" y="1572768"/>
            <a:ext cx="4169663" cy="914400"/>
          </a:xfrm>
          <a:prstGeom prst="rect">
            <a:avLst/>
          </a:prstGeom>
          <a:solidFill>
            <a:srgbClr val="141A22"/>
          </a:solidFill>
          <a:ln w="9525">
            <a:solidFill>
              <a:srgbClr val="273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27264" y="1700784"/>
            <a:ext cx="37490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500" b="1">
                <a:solidFill>
                  <a:srgbClr val="00A9FF"/>
                </a:solidFill>
                <a:latin typeface="微软雅黑"/>
                <a:ea typeface="微软雅黑"/>
              </a:rPr>
              <a:t>17 项功能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27264" y="205740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8D9AAC"/>
                </a:solidFill>
                <a:latin typeface="微软雅黑"/>
                <a:ea typeface="微软雅黑"/>
              </a:rPr>
              <a:t>云南火险监测大屏落地：火点聚合、四级风险着色、热力成像、时空筛选</a:t>
            </a:r>
          </a:p>
        </p:txBody>
      </p:sp>
      <p:sp>
        <p:nvSpPr>
          <p:cNvPr id="8" name="Rectangle 7"/>
          <p:cNvSpPr/>
          <p:nvPr/>
        </p:nvSpPr>
        <p:spPr>
          <a:xfrm>
            <a:off x="7607808" y="2633472"/>
            <a:ext cx="4169663" cy="914400"/>
          </a:xfrm>
          <a:prstGeom prst="rect">
            <a:avLst/>
          </a:prstGeom>
          <a:solidFill>
            <a:srgbClr val="141A22"/>
          </a:solidFill>
          <a:ln w="9525">
            <a:solidFill>
              <a:srgbClr val="273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27264" y="2761488"/>
            <a:ext cx="37490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500" b="1">
                <a:solidFill>
                  <a:srgbClr val="00A9FF"/>
                </a:solidFill>
                <a:latin typeface="微软雅黑"/>
                <a:ea typeface="微软雅黑"/>
              </a:rPr>
              <a:t>Gitee ★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7264" y="3118104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8D9AAC"/>
                </a:solidFill>
                <a:latin typeface="微软雅黑"/>
                <a:ea typeface="微软雅黑"/>
              </a:rPr>
              <a:t>公开仓库被收藏，功能演示可访问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7808" y="3694176"/>
            <a:ext cx="4169663" cy="914400"/>
          </a:xfrm>
          <a:prstGeom prst="rect">
            <a:avLst/>
          </a:prstGeom>
          <a:solidFill>
            <a:srgbClr val="141A22"/>
          </a:solidFill>
          <a:ln w="9525">
            <a:solidFill>
              <a:srgbClr val="273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27264" y="3822191"/>
            <a:ext cx="37490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500" b="1">
                <a:solidFill>
                  <a:srgbClr val="00A9FF"/>
                </a:solidFill>
                <a:latin typeface="微软雅黑"/>
                <a:ea typeface="微软雅黑"/>
              </a:rPr>
              <a:t>FE 五分项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7264" y="4178808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8D9AAC"/>
                </a:solidFill>
                <a:latin typeface="微软雅黑"/>
                <a:ea typeface="微软雅黑"/>
              </a:rPr>
              <a:t>火险指数五级分档体系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07808" y="4754879"/>
            <a:ext cx="4169663" cy="914400"/>
          </a:xfrm>
          <a:prstGeom prst="rect">
            <a:avLst/>
          </a:prstGeom>
          <a:solidFill>
            <a:srgbClr val="141A22"/>
          </a:solidFill>
          <a:ln w="9525">
            <a:solidFill>
              <a:srgbClr val="273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27264" y="4882895"/>
            <a:ext cx="37490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500" b="1">
                <a:solidFill>
                  <a:srgbClr val="00A9FF"/>
                </a:solidFill>
                <a:latin typeface="微软雅黑"/>
                <a:ea typeface="微软雅黑"/>
              </a:rPr>
              <a:t>三件套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27264" y="5239512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8D9AAC"/>
                </a:solidFill>
                <a:latin typeface="微软雅黑"/>
                <a:ea typeface="微软雅黑"/>
              </a:rPr>
              <a:t>OpenLayers + 高德底图 + ECharts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02336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200" b="1">
                <a:solidFill>
                  <a:srgbClr val="F2F6FA"/>
                </a:solidFill>
                <a:latin typeface="微软雅黑"/>
                <a:ea typeface="微软雅黑"/>
              </a:rPr>
              <a:t>早停对照实验与双算法推荐，都做到了从算法到产品的闭环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26464"/>
            <a:ext cx="5303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>
                <a:solidFill>
                  <a:srgbClr val="00A9FF"/>
                </a:solidFill>
                <a:latin typeface="微软雅黑"/>
                <a:ea typeface="微软雅黑"/>
              </a:rPr>
              <a:t>Informer2020 复现 · 早停对照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21792" y="1847088"/>
          <a:ext cx="5303520" cy="2651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" y="4663440"/>
            <a:ext cx="53035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8D9AAC"/>
                </a:solidFill>
                <a:latin typeface="微软雅黑"/>
                <a:ea typeface="微软雅黑"/>
              </a:rPr>
              <a:t>无阉割复现 ProbSparse Attention，用「早停 vs 不早停」对照定量验证早停价值，踩坑与调参全程留痕；同批完成的协同过滤从零实现行为加权 → 余弦相似度 → KNN 邻居 → Top-N → 离线评估。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426464"/>
            <a:ext cx="5468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>
                <a:solidFill>
                  <a:srgbClr val="00A9FF"/>
                </a:solidFill>
                <a:latin typeface="微软雅黑"/>
                <a:ea typeface="微软雅黑"/>
              </a:rPr>
              <a:t>协同过滤推荐系统 · 双算法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938528"/>
            <a:ext cx="1737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700" b="1">
                <a:solidFill>
                  <a:srgbClr val="82D8FF"/>
                </a:solidFill>
                <a:latin typeface="Consolas"/>
                <a:ea typeface="Consolas"/>
              </a:rPr>
              <a:t>0.96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5420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>
                <a:solidFill>
                  <a:srgbClr val="8D9AAC"/>
                </a:solidFill>
                <a:latin typeface="微软雅黑"/>
                <a:ea typeface="微软雅黑"/>
              </a:rPr>
              <a:t>UserCF Precision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6448" y="1938528"/>
            <a:ext cx="1737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700" b="1">
                <a:solidFill>
                  <a:srgbClr val="82D8FF"/>
                </a:solidFill>
                <a:latin typeface="Consolas"/>
                <a:ea typeface="Consolas"/>
              </a:rPr>
              <a:t>0.99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6448" y="25420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>
                <a:solidFill>
                  <a:srgbClr val="8D9AAC"/>
                </a:solidFill>
                <a:latin typeface="微软雅黑"/>
                <a:ea typeface="微软雅黑"/>
              </a:rPr>
              <a:t>ItemCF Precision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3536" y="1938528"/>
            <a:ext cx="1737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700" b="1">
                <a:solidFill>
                  <a:srgbClr val="82D8FF"/>
                </a:solidFill>
                <a:latin typeface="Consolas"/>
                <a:ea typeface="Consolas"/>
              </a:rPr>
              <a:t>1.0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3536" y="25420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>
                <a:solidFill>
                  <a:srgbClr val="8D9AAC"/>
                </a:solidFill>
                <a:latin typeface="微软雅黑"/>
                <a:ea typeface="微软雅黑"/>
              </a:rPr>
              <a:t>覆盖率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035808"/>
            <a:ext cx="5468112" cy="822960"/>
          </a:xfrm>
          <a:prstGeom prst="rect">
            <a:avLst/>
          </a:prstGeom>
          <a:solidFill>
            <a:srgbClr val="141A22"/>
          </a:solidFill>
          <a:ln w="9525">
            <a:solidFill>
              <a:srgbClr val="273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3182112"/>
            <a:ext cx="5120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F2F6FA"/>
                </a:solidFill>
                <a:latin typeface="微软雅黑"/>
                <a:ea typeface="微软雅黑"/>
              </a:rPr>
              <a:t>用户行为加权 → 余弦相似度 → KNN 邻居 → Top-N → 离线评估，落地「臻享云牧」云养殖平台（Vue2 + SpringBoot + Redis + JWT），完成算法到产品的闭环。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224528"/>
            <a:ext cx="546811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8D9AAC"/>
                </a:solidFill>
                <a:latin typeface="微软雅黑"/>
                <a:ea typeface="微软雅黑"/>
              </a:rPr>
              <a:t>另外两段工程起点：5 天交付 Vue2 积分商城全链路（三合一登录 + 购物车），以及微信小程序严选商城，沉淀拦截器 / 路由守卫 / api 统一管理等可迁移的工程习惯。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02336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200" b="1">
                <a:solidFill>
                  <a:srgbClr val="F2F6FA"/>
                </a:solidFill>
                <a:latin typeface="微软雅黑"/>
                <a:ea typeface="微软雅黑"/>
              </a:rPr>
              <a:t>九个可核查的数字，撑起前面这些结论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71600"/>
            <a:ext cx="11155680" cy="365760"/>
          </a:xfrm>
          <a:prstGeom prst="rect">
            <a:avLst/>
          </a:prstGeom>
          <a:solidFill>
            <a:srgbClr val="12293A"/>
          </a:solidFill>
          <a:ln w="9525">
            <a:solidFill>
              <a:srgbClr val="273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44752"/>
            <a:ext cx="4754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00" b="1">
                <a:solidFill>
                  <a:srgbClr val="82D8FF"/>
                </a:solidFill>
                <a:latin typeface="微软雅黑"/>
                <a:ea typeface="微软雅黑"/>
              </a:rPr>
              <a:t>维度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444752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00" b="1">
                <a:solidFill>
                  <a:srgbClr val="82D8FF"/>
                </a:solidFill>
                <a:latin typeface="微软雅黑"/>
                <a:ea typeface="微软雅黑"/>
              </a:rPr>
              <a:t>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737360"/>
            <a:ext cx="11155680" cy="502920"/>
          </a:xfrm>
          <a:prstGeom prst="rect">
            <a:avLst/>
          </a:prstGeom>
          <a:solidFill>
            <a:srgbClr val="10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00" b="0">
                <a:solidFill>
                  <a:srgbClr val="8D9AAC"/>
                </a:solidFill>
                <a:latin typeface="微软雅黑"/>
                <a:ea typeface="微软雅黑"/>
              </a:rPr>
              <a:t>火点预测精度（KNN 状态空间重构）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1865376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1">
                <a:solidFill>
                  <a:srgbClr val="F2F6FA"/>
                </a:solidFill>
                <a:latin typeface="微软雅黑"/>
                <a:ea typeface="微软雅黑"/>
              </a:rPr>
              <a:t>测试 R²  0.971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00" b="0">
                <a:solidFill>
                  <a:srgbClr val="8D9AAC"/>
                </a:solidFill>
                <a:latin typeface="微软雅黑"/>
                <a:ea typeface="微软雅黑"/>
              </a:rPr>
              <a:t>NDVI 预测精度（气候态-AR 混合）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2368296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1">
                <a:solidFill>
                  <a:srgbClr val="F2F6FA"/>
                </a:solidFill>
                <a:latin typeface="微软雅黑"/>
                <a:ea typeface="微软雅黑"/>
              </a:rPr>
              <a:t>测试 R²  0.801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2743200"/>
            <a:ext cx="11155680" cy="502920"/>
          </a:xfrm>
          <a:prstGeom prst="rect">
            <a:avLst/>
          </a:prstGeom>
          <a:solidFill>
            <a:srgbClr val="10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880360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00" b="0">
                <a:solidFill>
                  <a:srgbClr val="8D9AAC"/>
                </a:solidFill>
                <a:latin typeface="微软雅黑"/>
                <a:ea typeface="微软雅黑"/>
              </a:rPr>
              <a:t>推荐精确率（UserCF / ItemCF）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871216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1">
                <a:solidFill>
                  <a:srgbClr val="F2F6FA"/>
                </a:solidFill>
                <a:latin typeface="微软雅黑"/>
                <a:ea typeface="微软雅黑"/>
              </a:rPr>
              <a:t>0.96 / 0.99（覆盖率 1.0）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383279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00" b="0">
                <a:solidFill>
                  <a:srgbClr val="8D9AAC"/>
                </a:solidFill>
                <a:latin typeface="微软雅黑"/>
                <a:ea typeface="微软雅黑"/>
              </a:rPr>
              <a:t>Informer 复现（早停对照）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3374136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1">
                <a:solidFill>
                  <a:srgbClr val="F2F6FA"/>
                </a:solidFill>
                <a:latin typeface="微软雅黑"/>
                <a:ea typeface="微软雅黑"/>
              </a:rPr>
              <a:t>测试 R²  0.77  vs  0.45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3749039"/>
            <a:ext cx="11155680" cy="502920"/>
          </a:xfrm>
          <a:prstGeom prst="rect">
            <a:avLst/>
          </a:prstGeom>
          <a:solidFill>
            <a:srgbClr val="10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86200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00" b="0">
                <a:solidFill>
                  <a:srgbClr val="8D9AAC"/>
                </a:solidFill>
                <a:latin typeface="微软雅黑"/>
                <a:ea typeface="微软雅黑"/>
              </a:rPr>
              <a:t>Agent 编排规模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3877055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1">
                <a:solidFill>
                  <a:srgbClr val="F2F6FA"/>
                </a:solidFill>
                <a:latin typeface="微软雅黑"/>
                <a:ea typeface="微软雅黑"/>
              </a:rPr>
              <a:t>LangGraph 8 节点（并行 fan-out + HITL）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389120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00" b="0">
                <a:solidFill>
                  <a:srgbClr val="8D9AAC"/>
                </a:solidFill>
                <a:latin typeface="微软雅黑"/>
                <a:ea typeface="微软雅黑"/>
              </a:rPr>
              <a:t>红队判定体系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4379976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1">
                <a:solidFill>
                  <a:srgbClr val="F2F6FA"/>
                </a:solidFill>
                <a:latin typeface="微软雅黑"/>
                <a:ea typeface="微软雅黑"/>
              </a:rPr>
              <a:t>四级防御判定 + defense_score 量化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" y="4754880"/>
            <a:ext cx="11155680" cy="502920"/>
          </a:xfrm>
          <a:prstGeom prst="rect">
            <a:avLst/>
          </a:prstGeom>
          <a:solidFill>
            <a:srgbClr val="10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892040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00" b="0">
                <a:solidFill>
                  <a:srgbClr val="8D9AAC"/>
                </a:solidFill>
                <a:latin typeface="微软雅黑"/>
                <a:ea typeface="微软雅黑"/>
              </a:rPr>
              <a:t>大屏功能沉淀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4882896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1">
                <a:solidFill>
                  <a:srgbClr val="F2F6FA"/>
                </a:solidFill>
                <a:latin typeface="微软雅黑"/>
                <a:ea typeface="微软雅黑"/>
              </a:rPr>
              <a:t>17 项功能演示 · Gitee ★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94960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00" b="0">
                <a:solidFill>
                  <a:srgbClr val="8D9AAC"/>
                </a:solidFill>
                <a:latin typeface="微软雅黑"/>
                <a:ea typeface="微软雅黑"/>
              </a:rPr>
              <a:t>技能蒸馏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5385816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1">
                <a:solidFill>
                  <a:srgbClr val="F2F6FA"/>
                </a:solidFill>
                <a:latin typeface="微软雅黑"/>
                <a:ea typeface="微软雅黑"/>
              </a:rPr>
              <a:t>17 个开源 skill → 6 场景 × 30+ 风格 × 8 渲染路径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" y="5760720"/>
            <a:ext cx="11155680" cy="502920"/>
          </a:xfrm>
          <a:prstGeom prst="rect">
            <a:avLst/>
          </a:prstGeom>
          <a:solidFill>
            <a:srgbClr val="10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897880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00" b="0">
                <a:solidFill>
                  <a:srgbClr val="8D9AAC"/>
                </a:solidFill>
                <a:latin typeface="微软雅黑"/>
                <a:ea typeface="微软雅黑"/>
              </a:rPr>
              <a:t>开源仓库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5888736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1">
                <a:solidFill>
                  <a:srgbClr val="F2F6FA"/>
                </a:solidFill>
                <a:latin typeface="微软雅黑"/>
                <a:ea typeface="微软雅黑"/>
              </a:rPr>
              <a:t>GitHub / Gitee @WJLGraph · 17+ 公开仓库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638251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0">
                <a:solidFill>
                  <a:srgbClr val="8D9AAC"/>
                </a:solidFill>
                <a:latin typeface="微软雅黑"/>
                <a:ea typeface="微软雅黑"/>
              </a:rPr>
              <a:t>数据来自个人项目仓库与实验留痕（GitHub / Gitee @WJLGraph），可逐条核对。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02336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200" b="1">
                <a:solidFill>
                  <a:srgbClr val="F2F6FA"/>
                </a:solidFill>
                <a:latin typeface="微软雅黑"/>
                <a:ea typeface="微软雅黑"/>
              </a:rPr>
              <a:t>从 5 天交付的积分商城走到多 Agent 系统，每一步都留下可运行的产物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926080"/>
            <a:ext cx="10753344" cy="18288"/>
          </a:xfrm>
          <a:prstGeom prst="rect">
            <a:avLst/>
          </a:prstGeom>
          <a:solidFill>
            <a:srgbClr val="273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4160520"/>
            <a:ext cx="10753344" cy="18288"/>
          </a:xfrm>
          <a:prstGeom prst="rect">
            <a:avLst/>
          </a:prstGeom>
          <a:solidFill>
            <a:srgbClr val="273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8388" y="2926080"/>
            <a:ext cx="27432" cy="1252728"/>
          </a:xfrm>
          <a:prstGeom prst="rect">
            <a:avLst/>
          </a:prstGeom>
          <a:solidFill>
            <a:srgbClr val="273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36775" y="2825496"/>
            <a:ext cx="201168" cy="201168"/>
          </a:xfrm>
          <a:prstGeom prst="ellipse">
            <a:avLst/>
          </a:prstGeom>
          <a:solidFill>
            <a:srgbClr val="0A0A0A"/>
          </a:solidFill>
          <a:ln w="15875">
            <a:solidFill>
              <a:srgbClr val="00A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1907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1150" b="1">
                <a:solidFill>
                  <a:srgbClr val="F2F6FA"/>
                </a:solidFill>
                <a:latin typeface="微软雅黑"/>
                <a:ea typeface="微软雅黑"/>
              </a:rPr>
              <a:t>01  前端筑基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29968"/>
            <a:ext cx="21031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>
                <a:solidFill>
                  <a:srgbClr val="8D9AAC"/>
                </a:solidFill>
                <a:latin typeface="微软雅黑"/>
                <a:ea typeface="微软雅黑"/>
              </a:rPr>
              <a:t>Vue2 积分商城 5 天交付</a:t>
            </a:r>
          </a:p>
        </p:txBody>
      </p:sp>
      <p:sp>
        <p:nvSpPr>
          <p:cNvPr id="10" name="Oval 9"/>
          <p:cNvSpPr/>
          <p:nvPr/>
        </p:nvSpPr>
        <p:spPr>
          <a:xfrm>
            <a:off x="3867911" y="2825496"/>
            <a:ext cx="201168" cy="201168"/>
          </a:xfrm>
          <a:prstGeom prst="ellipse">
            <a:avLst/>
          </a:prstGeom>
          <a:solidFill>
            <a:srgbClr val="0A0A0A"/>
          </a:solidFill>
          <a:ln w="15875">
            <a:solidFill>
              <a:srgbClr val="00A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16936" y="171907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1150" b="1">
                <a:solidFill>
                  <a:srgbClr val="F2F6FA"/>
                </a:solidFill>
                <a:latin typeface="微软雅黑"/>
                <a:ea typeface="微软雅黑"/>
              </a:rPr>
              <a:t>02  全栈 &amp; 初触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16936" y="2029968"/>
            <a:ext cx="21031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>
                <a:solidFill>
                  <a:srgbClr val="8D9AAC"/>
                </a:solidFill>
                <a:latin typeface="微软雅黑"/>
                <a:ea typeface="微软雅黑"/>
              </a:rPr>
              <a:t>Vue3 全栈 + 大模型接入</a:t>
            </a:r>
          </a:p>
        </p:txBody>
      </p:sp>
      <p:sp>
        <p:nvSpPr>
          <p:cNvPr id="13" name="Oval 12"/>
          <p:cNvSpPr/>
          <p:nvPr/>
        </p:nvSpPr>
        <p:spPr>
          <a:xfrm>
            <a:off x="6099047" y="2825496"/>
            <a:ext cx="201168" cy="201168"/>
          </a:xfrm>
          <a:prstGeom prst="ellipse">
            <a:avLst/>
          </a:prstGeom>
          <a:solidFill>
            <a:srgbClr val="0A0A0A"/>
          </a:solidFill>
          <a:ln w="15875">
            <a:solidFill>
              <a:srgbClr val="00A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48071" y="171907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1150" b="1">
                <a:solidFill>
                  <a:srgbClr val="F2F6FA"/>
                </a:solidFill>
                <a:latin typeface="微软雅黑"/>
                <a:ea typeface="微软雅黑"/>
              </a:rPr>
              <a:t>03  机器学习建模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8071" y="2029968"/>
            <a:ext cx="21031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>
                <a:solidFill>
                  <a:srgbClr val="8D9AAC"/>
                </a:solidFill>
                <a:latin typeface="微软雅黑"/>
                <a:ea typeface="微软雅黑"/>
              </a:rPr>
              <a:t>智火卫渝三模型分治</a:t>
            </a:r>
          </a:p>
        </p:txBody>
      </p:sp>
      <p:sp>
        <p:nvSpPr>
          <p:cNvPr id="16" name="Oval 15"/>
          <p:cNvSpPr/>
          <p:nvPr/>
        </p:nvSpPr>
        <p:spPr>
          <a:xfrm>
            <a:off x="8330184" y="2825496"/>
            <a:ext cx="201168" cy="201168"/>
          </a:xfrm>
          <a:prstGeom prst="ellipse">
            <a:avLst/>
          </a:prstGeom>
          <a:solidFill>
            <a:srgbClr val="0A0A0A"/>
          </a:solidFill>
          <a:ln w="15875">
            <a:solidFill>
              <a:srgbClr val="00A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79208" y="171907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1150" b="1">
                <a:solidFill>
                  <a:srgbClr val="F2F6FA"/>
                </a:solidFill>
                <a:latin typeface="微软雅黑"/>
                <a:ea typeface="微软雅黑"/>
              </a:rPr>
              <a:t>04  时间序列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79208" y="2029968"/>
            <a:ext cx="21031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>
                <a:solidFill>
                  <a:srgbClr val="8D9AAC"/>
                </a:solidFill>
                <a:latin typeface="微软雅黑"/>
                <a:ea typeface="微软雅黑"/>
              </a:rPr>
              <a:t>Informer2020 分步复现</a:t>
            </a:r>
          </a:p>
        </p:txBody>
      </p:sp>
      <p:sp>
        <p:nvSpPr>
          <p:cNvPr id="19" name="Oval 18"/>
          <p:cNvSpPr/>
          <p:nvPr/>
        </p:nvSpPr>
        <p:spPr>
          <a:xfrm>
            <a:off x="10561320" y="2825496"/>
            <a:ext cx="201168" cy="201168"/>
          </a:xfrm>
          <a:prstGeom prst="ellipse">
            <a:avLst/>
          </a:prstGeom>
          <a:solidFill>
            <a:srgbClr val="0A0A0A"/>
          </a:solidFill>
          <a:ln w="15875">
            <a:solidFill>
              <a:srgbClr val="00A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10344" y="171907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1150" b="1">
                <a:solidFill>
                  <a:srgbClr val="F2F6FA"/>
                </a:solidFill>
                <a:latin typeface="微软雅黑"/>
                <a:ea typeface="微软雅黑"/>
              </a:rPr>
              <a:t>05  推荐算法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10344" y="2029968"/>
            <a:ext cx="21031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>
                <a:solidFill>
                  <a:srgbClr val="8D9AAC"/>
                </a:solidFill>
                <a:latin typeface="微软雅黑"/>
                <a:ea typeface="微软雅黑"/>
              </a:rPr>
              <a:t>双算法 + 臻享云牧落地</a:t>
            </a:r>
          </a:p>
        </p:txBody>
      </p:sp>
      <p:sp>
        <p:nvSpPr>
          <p:cNvPr id="22" name="Oval 21"/>
          <p:cNvSpPr/>
          <p:nvPr/>
        </p:nvSpPr>
        <p:spPr>
          <a:xfrm>
            <a:off x="1920240" y="4059936"/>
            <a:ext cx="201168" cy="201168"/>
          </a:xfrm>
          <a:prstGeom prst="ellipse">
            <a:avLst/>
          </a:prstGeom>
          <a:solidFill>
            <a:srgbClr val="0A0A0A"/>
          </a:solidFill>
          <a:ln w="15875">
            <a:solidFill>
              <a:srgbClr val="00A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4370832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1150" b="1">
                <a:solidFill>
                  <a:srgbClr val="F2F6FA"/>
                </a:solidFill>
                <a:latin typeface="微软雅黑"/>
                <a:ea typeface="微软雅黑"/>
              </a:rPr>
              <a:t>06  毕业设计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4681728"/>
            <a:ext cx="26517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>
                <a:solidFill>
                  <a:srgbClr val="8D9AAC"/>
                </a:solidFill>
                <a:latin typeface="微软雅黑"/>
                <a:ea typeface="微软雅黑"/>
              </a:rPr>
              <a:t>云南火险大屏 17 项功能</a:t>
            </a:r>
          </a:p>
        </p:txBody>
      </p:sp>
      <p:sp>
        <p:nvSpPr>
          <p:cNvPr id="25" name="Oval 24"/>
          <p:cNvSpPr/>
          <p:nvPr/>
        </p:nvSpPr>
        <p:spPr>
          <a:xfrm>
            <a:off x="4709159" y="4059936"/>
            <a:ext cx="201168" cy="201168"/>
          </a:xfrm>
          <a:prstGeom prst="ellipse">
            <a:avLst/>
          </a:prstGeom>
          <a:solidFill>
            <a:srgbClr val="0A0A0A"/>
          </a:solidFill>
          <a:ln w="15875">
            <a:solidFill>
              <a:srgbClr val="00A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83863" y="4370832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1150" b="1">
                <a:solidFill>
                  <a:srgbClr val="F2F6FA"/>
                </a:solidFill>
                <a:latin typeface="微软雅黑"/>
                <a:ea typeface="微软雅黑"/>
              </a:rPr>
              <a:t>07  AI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83863" y="4681728"/>
            <a:ext cx="26517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>
                <a:solidFill>
                  <a:srgbClr val="8D9AAC"/>
                </a:solidFill>
                <a:latin typeface="微软雅黑"/>
                <a:ea typeface="微软雅黑"/>
              </a:rPr>
              <a:t>焰哨系统 8 节点编排</a:t>
            </a:r>
          </a:p>
        </p:txBody>
      </p:sp>
      <p:sp>
        <p:nvSpPr>
          <p:cNvPr id="28" name="Oval 27"/>
          <p:cNvSpPr/>
          <p:nvPr/>
        </p:nvSpPr>
        <p:spPr>
          <a:xfrm>
            <a:off x="7498079" y="4059936"/>
            <a:ext cx="201168" cy="201168"/>
          </a:xfrm>
          <a:prstGeom prst="ellipse">
            <a:avLst/>
          </a:prstGeom>
          <a:solidFill>
            <a:srgbClr val="0A0A0A"/>
          </a:solidFill>
          <a:ln w="15875">
            <a:solidFill>
              <a:srgbClr val="00A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72783" y="4370832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1150" b="1">
                <a:solidFill>
                  <a:srgbClr val="F2F6FA"/>
                </a:solidFill>
                <a:latin typeface="微软雅黑"/>
                <a:ea typeface="微软雅黑"/>
              </a:rPr>
              <a:t>08  Agent 安全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2783" y="4681728"/>
            <a:ext cx="26517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>
                <a:solidFill>
                  <a:srgbClr val="8D9AAC"/>
                </a:solidFill>
                <a:latin typeface="微软雅黑"/>
                <a:ea typeface="微软雅黑"/>
              </a:rPr>
              <a:t>Gauntlet 红队闭环</a:t>
            </a:r>
          </a:p>
        </p:txBody>
      </p:sp>
      <p:sp>
        <p:nvSpPr>
          <p:cNvPr id="31" name="Oval 30"/>
          <p:cNvSpPr/>
          <p:nvPr/>
        </p:nvSpPr>
        <p:spPr>
          <a:xfrm>
            <a:off x="10287000" y="4059936"/>
            <a:ext cx="201168" cy="201168"/>
          </a:xfrm>
          <a:prstGeom prst="ellipse">
            <a:avLst/>
          </a:prstGeom>
          <a:solidFill>
            <a:srgbClr val="0A0A0A"/>
          </a:solidFill>
          <a:ln w="15875">
            <a:solidFill>
              <a:srgbClr val="00A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61704" y="4370832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1150" b="1">
                <a:solidFill>
                  <a:srgbClr val="F2F6FA"/>
                </a:solidFill>
                <a:latin typeface="微软雅黑"/>
                <a:ea typeface="微软雅黑"/>
              </a:rPr>
              <a:t>09  开源沉淀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61704" y="4681728"/>
            <a:ext cx="26517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>
                <a:solidFill>
                  <a:srgbClr val="8D9AAC"/>
                </a:solidFill>
                <a:latin typeface="微软雅黑"/>
                <a:ea typeface="微软雅黑"/>
              </a:rPr>
              <a:t>Haute + Universal PPT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580644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1000" b="0">
                <a:solidFill>
                  <a:srgbClr val="82D8FF"/>
                </a:solidFill>
                <a:latin typeface="微软雅黑"/>
                <a:ea typeface="微软雅黑"/>
              </a:rPr>
              <a:t>9 个阶段  ·  从 5 天交付的单体前端，到可回归评测的 Agent 系统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02336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200" b="1">
                <a:solidFill>
                  <a:srgbClr val="F2F6FA"/>
                </a:solidFill>
                <a:latin typeface="微软雅黑"/>
                <a:ea typeface="微软雅黑"/>
              </a:rPr>
              <a:t>把方法沉淀成可分发的技能：GSAP 与 PPT 两套开源技能</a:t>
            </a:r>
          </a:p>
        </p:txBody>
      </p:sp>
      <p:pic>
        <p:nvPicPr>
          <p:cNvPr id="4" name="Picture 3" descr="opensource.jpg"/>
          <p:cNvPicPr>
            <a:picLocks noChangeAspect="1"/>
          </p:cNvPicPr>
          <p:nvPr/>
        </p:nvPicPr>
        <p:blipFill>
          <a:blip r:embed="rId2"/>
          <a:srcRect l="12781" r="12781"/>
          <a:stretch>
            <a:fillRect/>
          </a:stretch>
        </p:blipFill>
        <p:spPr>
          <a:xfrm>
            <a:off x="621792" y="1371600"/>
            <a:ext cx="4846320" cy="4882896"/>
          </a:xfrm>
          <a:prstGeom prst="rect">
            <a:avLst/>
          </a:prstGeom>
          <a:effectLst/>
        </p:spPr>
      </p:pic>
      <p:sp>
        <p:nvSpPr>
          <p:cNvPr id="5" name="Rectangle 4"/>
          <p:cNvSpPr/>
          <p:nvPr/>
        </p:nvSpPr>
        <p:spPr>
          <a:xfrm>
            <a:off x="5742432" y="1371600"/>
            <a:ext cx="6035040" cy="1408176"/>
          </a:xfrm>
          <a:prstGeom prst="rect">
            <a:avLst/>
          </a:prstGeom>
          <a:solidFill>
            <a:srgbClr val="141A22"/>
          </a:solidFill>
          <a:ln w="9525">
            <a:solidFill>
              <a:srgbClr val="273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80176" y="1554480"/>
            <a:ext cx="5577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400" b="1">
                <a:solidFill>
                  <a:srgbClr val="00A9FF"/>
                </a:solidFill>
                <a:latin typeface="微软雅黑"/>
                <a:ea typeface="微软雅黑"/>
              </a:rPr>
              <a:t>Haute · 高端 GSAP Skills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0176" y="1920240"/>
            <a:ext cx="557784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F2F6FA"/>
                </a:solidFill>
                <a:latin typeface="微软雅黑"/>
                <a:ea typeface="微软雅黑"/>
              </a:rPr>
              <a:t>蒸馏 GSAP 官方 skills，产出 6 大风格体系 + 12 动效模式 + 10 节引擎纪律 + 12+ 即贴配方，skills CLI / Claude / Cursor / Copilot 四路分发全部合规打通（MIT）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742432" y="2944368"/>
            <a:ext cx="6035040" cy="1408176"/>
          </a:xfrm>
          <a:prstGeom prst="rect">
            <a:avLst/>
          </a:prstGeom>
          <a:solidFill>
            <a:srgbClr val="141A22"/>
          </a:solidFill>
          <a:ln w="9525">
            <a:solidFill>
              <a:srgbClr val="273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80176" y="3127248"/>
            <a:ext cx="5577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400" b="1">
                <a:solidFill>
                  <a:srgbClr val="00A9FF"/>
                </a:solidFill>
                <a:latin typeface="微软雅黑"/>
                <a:ea typeface="微软雅黑"/>
              </a:rPr>
              <a:t>Universal PPT · 全场景演示技能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0176" y="3493008"/>
            <a:ext cx="557784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F2F6FA"/>
                </a:solidFill>
                <a:latin typeface="微软雅黑"/>
                <a:ea typeface="微软雅黑"/>
              </a:rPr>
              <a:t>蒸馏 17 个开源 PPT skill，建成六类场景路由 × 30+ 风格库 × 8 条渲染路径，并配内容—视觉—溯源三道质检闸（MIT）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42432" y="4590288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>
                <a:solidFill>
                  <a:srgbClr val="8D9AAC"/>
                </a:solidFill>
                <a:latin typeface="微软雅黑"/>
                <a:ea typeface="微软雅黑"/>
              </a:rPr>
              <a:t>两套技能均已开源，MIT 许可。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42432" y="5138928"/>
            <a:ext cx="6035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F2F6FA"/>
                </a:solidFill>
                <a:latin typeface="微软雅黑"/>
                <a:ea typeface="微软雅黑"/>
              </a:rPr>
              <a:t>既会做系统，</a:t>
            </a:r>
          </a:p>
          <a:p>
            <a:pPr algn="l">
              <a:lnSpc>
                <a:spcPct val="120000"/>
              </a:lnSpc>
            </a:pPr>
            <a:r>
              <a:rPr sz="1900" b="1">
                <a:solidFill>
                  <a:srgbClr val="82D8FF"/>
                </a:solidFill>
                <a:latin typeface="微软雅黑"/>
                <a:ea typeface="微软雅黑"/>
              </a:rPr>
              <a:t>也会把方法沉淀为可复用的工程资产。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
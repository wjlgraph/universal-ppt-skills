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10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iTransformer</c:v>
                </c:pt>
              </c:strCache>
            </c:strRef>
          </c:tx>
          <c:spPr>
            <a:solidFill>
              <a:srgbClr val="1F4E79"/>
            </a:solidFill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>
                    <a:solidFill>
                      <a:srgbClr val="333333"/>
                    </a:solidFill>
                    <a:ea typeface="微软雅黑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Traffic</c:v>
                </c:pt>
                <c:pt idx="1">
                  <c:v>ECL</c:v>
                </c:pt>
                <c:pt idx="2">
                  <c:v>Weather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0.42799999999999999</c:v>
                </c:pt>
                <c:pt idx="1">
                  <c:v>0.17799999999999999</c:v>
                </c:pt>
                <c:pt idx="2">
                  <c:v>0.25800000000000001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DAA-49CB-9827-6AB180D95F0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最优基线</c:v>
                </c:pt>
              </c:strCache>
            </c:strRef>
          </c:tx>
          <c:spPr>
            <a:solidFill>
              <a:srgbClr val="D6E4F0"/>
            </a:solidFill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>
                    <a:solidFill>
                      <a:srgbClr val="333333"/>
                    </a:solidFill>
                    <a:ea typeface="微软雅黑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Traffic</c:v>
                </c:pt>
                <c:pt idx="1">
                  <c:v>ECL</c:v>
                </c:pt>
                <c:pt idx="2">
                  <c:v>Weather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0.48099999999999998</c:v>
                </c:pt>
                <c:pt idx="1">
                  <c:v>0.192</c:v>
                </c:pt>
                <c:pt idx="2">
                  <c:v>0.25900000000000001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DAA-49CB-9827-6AB180D95F0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595959"/>
            </a:solidFill>
          </a:ln>
        </c:spPr>
        <c:txPr>
          <a:bodyPr/>
          <a:lstStyle/>
          <a:p>
            <a:pPr>
              <a:defRPr sz="1150" b="1">
                <a:ea typeface="微软雅黑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6"/>
          <c:min val="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050">
                <a:ea typeface="微软雅黑"/>
              </a:defRPr>
            </a:pPr>
            <a:endParaRPr lang="zh-CN"/>
          </a:p>
        </c:txPr>
        <c:crossAx val="-2068027336"/>
        <c:crosses val="autoZero"/>
        <c:crossBetween val="between"/>
        <c:majorUnit val="0.1"/>
      </c:valAx>
    </c:plotArea>
    <c:legend>
      <c:legendPos val="b"/>
      <c:overlay val="0"/>
      <c:txPr>
        <a:bodyPr/>
        <a:lstStyle/>
        <a:p>
          <a:pPr>
            <a:defRPr sz="1150">
              <a:ea typeface="微软雅黑"/>
            </a:defRPr>
          </a:pPr>
          <a:endParaRPr lang="zh-CN"/>
        </a:p>
      </c:txPr>
    </c:legend>
    <c:plotVisOnly val="1"/>
    <c:dispBlanksAs val="gap"/>
    <c:showDLblsOverMax val="1"/>
  </c:chart>
  <c:txPr>
    <a:bodyPr/>
    <a:lstStyle/>
    <a:p>
      <a:pPr>
        <a:defRPr sz="1100">
          <a:solidFill>
            <a:srgbClr val="333333"/>
          </a:solidFill>
          <a:latin typeface="微软雅黑"/>
          <a:ea typeface="微软雅黑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Traffic MSE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01-7F6B-4BF1-B378-E83E5A643BB8}"/>
              </c:ext>
            </c:extLst>
          </c:dPt>
          <c:dPt>
            <c:idx val="1"/>
            <c:invertIfNegative val="1"/>
            <c:bubble3D val="0"/>
            <c:spPr>
              <a:solidFill>
                <a:srgbClr val="D6E4F0"/>
              </a:solidFill>
            </c:spPr>
            <c:extLst>
              <c:ext xmlns:c16="http://schemas.microsoft.com/office/drawing/2014/chart" uri="{C3380CC4-5D6E-409C-BE32-E72D297353CC}">
                <c16:uniqueId val="{00000003-7F6B-4BF1-B378-E83E5A643BB8}"/>
              </c:ext>
            </c:extLst>
          </c:dPt>
          <c:dPt>
            <c:idx val="2"/>
            <c:invertIfNegative val="1"/>
            <c:bubble3D val="0"/>
            <c:spPr>
              <a:solidFill>
                <a:srgbClr val="D6E4F0"/>
              </a:solidFill>
            </c:spPr>
            <c:extLst>
              <c:ext xmlns:c16="http://schemas.microsoft.com/office/drawing/2014/chart" uri="{C3380CC4-5D6E-409C-BE32-E72D297353CC}">
                <c16:uniqueId val="{00000005-7F6B-4BF1-B378-E83E5A643BB8}"/>
              </c:ext>
            </c:extLst>
          </c:dPt>
          <c:dPt>
            <c:idx val="3"/>
            <c:invertIfNegative val="1"/>
            <c:bubble3D val="0"/>
            <c:spPr>
              <a:solidFill>
                <a:srgbClr val="D6E4F0"/>
              </a:solidFill>
            </c:spPr>
            <c:extLst>
              <c:ext xmlns:c16="http://schemas.microsoft.com/office/drawing/2014/chart" uri="{C3380CC4-5D6E-409C-BE32-E72D297353CC}">
                <c16:uniqueId val="{00000007-7F6B-4BF1-B378-E83E5A643BB8}"/>
              </c:ext>
            </c:extLst>
          </c:dPt>
          <c:dPt>
            <c:idx val="4"/>
            <c:invertIfNegative val="1"/>
            <c:bubble3D val="0"/>
            <c:spPr>
              <a:solidFill>
                <a:srgbClr val="C00000"/>
              </a:solidFill>
            </c:spPr>
            <c:extLst>
              <c:ext xmlns:c16="http://schemas.microsoft.com/office/drawing/2014/chart" uri="{C3380CC4-5D6E-409C-BE32-E72D297353CC}">
                <c16:uniqueId val="{00000009-7F6B-4BF1-B378-E83E5A643BB8}"/>
              </c:ext>
            </c:extLst>
          </c:dPt>
          <c:dPt>
            <c:idx val="5"/>
            <c:invertIfNegative val="1"/>
            <c:bubble3D val="0"/>
            <c:spPr>
              <a:solidFill>
                <a:srgbClr val="D6E4F0"/>
              </a:solidFill>
            </c:spPr>
            <c:extLst>
              <c:ext xmlns:c16="http://schemas.microsoft.com/office/drawing/2014/chart" uri="{C3380CC4-5D6E-409C-BE32-E72D297353CC}">
                <c16:uniqueId val="{0000000B-7F6B-4BF1-B378-E83E5A643BB8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>
                    <a:solidFill>
                      <a:srgbClr val="333333"/>
                    </a:solidFill>
                    <a:ea typeface="微软雅黑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完整</c:v>
                </c:pt>
                <c:pt idx="1">
                  <c:v>去 Attn</c:v>
                </c:pt>
                <c:pt idx="2">
                  <c:v>去 FFN</c:v>
                </c:pt>
                <c:pt idx="3">
                  <c:v>双 FFN</c:v>
                </c:pt>
                <c:pt idx="4">
                  <c:v>vanilla</c:v>
                </c:pt>
                <c:pt idx="5">
                  <c:v>双 Attn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0.42799999999999999</c:v>
                </c:pt>
                <c:pt idx="1">
                  <c:v>0.45600000000000002</c:v>
                </c:pt>
                <c:pt idx="2">
                  <c:v>0.46100000000000002</c:v>
                </c:pt>
                <c:pt idx="3">
                  <c:v>0.59899999999999998</c:v>
                </c:pt>
                <c:pt idx="4">
                  <c:v>0.86299999999999999</c:v>
                </c:pt>
                <c:pt idx="5">
                  <c:v>0.91300000000000003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F6B-4BF1-B378-E83E5A643BB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595959"/>
            </a:solidFill>
          </a:ln>
        </c:spPr>
        <c:txPr>
          <a:bodyPr/>
          <a:lstStyle/>
          <a:p>
            <a:pPr>
              <a:defRPr sz="1150" b="1">
                <a:ea typeface="微软雅黑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050">
                <a:ea typeface="微软雅黑"/>
              </a:defRPr>
            </a:pPr>
            <a:endParaRPr lang="zh-CN"/>
          </a:p>
        </c:txPr>
        <c:crossAx val="-2068027336"/>
        <c:crosses val="autoZero"/>
        <c:crossBetween val="between"/>
        <c:majorUnit val="0.2"/>
      </c:valAx>
    </c:plotArea>
    <c:plotVisOnly val="1"/>
    <c:dispBlanksAs val="gap"/>
    <c:showDLblsOverMax val="1"/>
  </c:chart>
  <c:txPr>
    <a:bodyPr/>
    <a:lstStyle/>
    <a:p>
      <a:pPr>
        <a:defRPr sz="1100">
          <a:solidFill>
            <a:srgbClr val="333333"/>
          </a:solidFill>
          <a:latin typeface="微软雅黑"/>
          <a:ea typeface="微软雅黑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287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今天分享 ICLR 2024 的 iTransformer。它没有发明新组件，只是把 Transformer 的维度倒过来：变量做 token、时间交给 FFN，就在多个真实基准上全面反超。按背景、方法、实验、分析四段展开，约十分钟。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现有方法把同一时刻的多变量压成一个 token，即 Figure 2 上半：注意力沿时间轴跑，回看拉长就退化、注意力图无意义。iTransformer 把每条变量的整段序列作为一个 token，注意力跨变量。不是架构无效，而是被用错了维度。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相关工作把已有改进分成四类：改组件注意力、做序列处理、组件架构双改，以及本文的维度倒置。前三类都在时刻 token 框架里打转，性能有提升但没触及根因；iTransformer 是唯一的第四类，组件一个不改，只换使用维度。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Figure 7 左图按 CKA 相似度对比，iTransformer 全落在高相似、低误差一侧——FFN 学到了更合适的序列表示；右图为 Solar-Energy 案例：浅层注意力近似回看相关性，深层逼近未来相关性，变量间注意力可解释。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方法总览看 Figure 4：嵌入 MLP 把每条变量序列压成 variate token，堆 L 层标准块，注意力跨变量、FFN 跨时间，投影 MLP 直接输出预测。token 聚合整段序列，位置编码可省；组件未改一个。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实验协议公平：统一回看窗口 96，预测长度 96 到 720，十个先进模型同台，最优标红、次优下划线。数据集覆盖电力、交通、气象等七个真实场景，其中 Traffic 862 个变量、ECL 321 个变量，是检验高维变量建模能力的硬骨头。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四大基准全部第一：Traffic 0.428 对 0.481，ECL 0.178，Weather 0.258 险胜，Solar 0.233 对 0.261。框架收益更关键：五个变体套用倒置，MSE 平均降 16.8%–38.9%。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效率看 Figure 10：横轴训练时间，气泡是显存。Traffic 862 变量上完整版 7.5GB、265 毫秒；高效训练随机采样变量，降到 1.28GB、91 毫秒；两大基线均超 8.5GB、635 毫秒，性能仍相当。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消融在 Traffic 上做：去注意力 0.456，去 FFN 0.461，组件分工互补；维度用反更惨，vanilla 0.863、双注意力 0.913。同一套组件，放对 0.428、放错 0.913——位置比组件更根本。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收束：维度组织比组件堆叠更根本；非平稳强相关场景收益最大；变量极多时用采样训练。贡献是倒置视角与框架通用性；局限在注意力的平方复杂度。迁移思考：火险多指标时序变量少、序列长，正适合变量 token 的组织方式。欢迎提问。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13248" y="1024128"/>
            <a:ext cx="1371600" cy="384048"/>
          </a:xfrm>
          <a:prstGeom prst="roundRect">
            <a:avLst/>
          </a:prstGeom>
          <a:solidFill>
            <a:srgbClr val="F2F5F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13248" y="1024128"/>
            <a:ext cx="137160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1F4E79"/>
                </a:solidFill>
                <a:latin typeface="微软雅黑"/>
                <a:ea typeface="微软雅黑"/>
              </a:rPr>
              <a:t>ICLR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91672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900" b="1" i="0">
                <a:solidFill>
                  <a:srgbClr val="333333"/>
                </a:solidFill>
                <a:latin typeface="微软雅黑"/>
                <a:ea typeface="微软雅黑"/>
              </a:rPr>
              <a:t>iTransformer：把维度倒过来，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11091672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900" b="1" i="0">
                <a:solidFill>
                  <a:srgbClr val="1F4E79"/>
                </a:solidFill>
                <a:latin typeface="微软雅黑"/>
                <a:ea typeface="微软雅黑"/>
              </a:rPr>
              <a:t>让标准 Transformer 重返时序预测 SOTA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11091672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0" i="1">
                <a:solidFill>
                  <a:srgbClr val="595959"/>
                </a:solidFill>
                <a:latin typeface="微软雅黑"/>
                <a:ea typeface="微软雅黑"/>
              </a:rPr>
              <a:t>iTransformer: Inverted Transformers Are Effective for Time Series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67328"/>
            <a:ext cx="11091672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微软雅黑"/>
                <a:ea typeface="微软雅黑"/>
              </a:rPr>
              <a:t>Yong Liu*, Tengge Hu*, Haoran Zhang*, Haixu Wu, Shiyu Wang, Lintao Ma, Mingsheng Long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96512"/>
            <a:ext cx="1109167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School of Software, BNRist, Tsinghua University · 代码：github.com/thuml/iTransformer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55648" y="5074920"/>
            <a:ext cx="1828800" cy="475488"/>
          </a:xfrm>
          <a:prstGeom prst="roundRect">
            <a:avLst/>
          </a:prstGeom>
          <a:solidFill>
            <a:srgbClr val="F2F5F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55648" y="5074920"/>
            <a:ext cx="1828800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</a:rPr>
              <a:t>背景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5074920"/>
            <a:ext cx="457200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595959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41648" y="5074920"/>
            <a:ext cx="1828800" cy="475488"/>
          </a:xfrm>
          <a:prstGeom prst="roundRect">
            <a:avLst/>
          </a:prstGeom>
          <a:solidFill>
            <a:srgbClr val="F2F5F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41648" y="5074920"/>
            <a:ext cx="1828800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</a:rPr>
              <a:t>方法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0448" y="5074920"/>
            <a:ext cx="457200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595959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5074920"/>
            <a:ext cx="1828800" cy="475488"/>
          </a:xfrm>
          <a:prstGeom prst="roundRect">
            <a:avLst/>
          </a:prstGeom>
          <a:solidFill>
            <a:srgbClr val="F2F5F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27648" y="5074920"/>
            <a:ext cx="1828800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</a:rPr>
              <a:t>实验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5074920"/>
            <a:ext cx="457200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595959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13648" y="5074920"/>
            <a:ext cx="1828800" cy="475488"/>
          </a:xfrm>
          <a:prstGeom prst="roundRect">
            <a:avLst/>
          </a:prstGeom>
          <a:solidFill>
            <a:srgbClr val="F2F5F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13648" y="5074920"/>
            <a:ext cx="1828800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</a:rPr>
              <a:t>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" cy="7772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4000" b="1" i="0">
                <a:solidFill>
                  <a:srgbClr val="C9D6E6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9669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 i="0">
                <a:solidFill>
                  <a:srgbClr val="333333"/>
                </a:solidFill>
                <a:latin typeface="微软雅黑"/>
                <a:ea typeface="微软雅黑"/>
              </a:rPr>
              <a:t>现有方法把「时刻」当 token，回看越长失速越狠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11091672" cy="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ig2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6858000" cy="2880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6635" y="1796796"/>
            <a:ext cx="6922008" cy="2944368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4828032"/>
            <a:ext cx="685800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595959"/>
                </a:solidFill>
                <a:latin typeface="微软雅黑"/>
                <a:ea typeface="微软雅黑"/>
              </a:rPr>
              <a:t>来源：Liu et al., iTransformer, ICLR 2024 · Figure 2（上：vanilla · 下：iTransformer）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874519"/>
            <a:ext cx="3959352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· </a:t>
            </a:r>
            <a:r>
              <a:rPr sz="1250" b="1" i="0">
                <a:solidFill>
                  <a:srgbClr val="333333"/>
                </a:solidFill>
                <a:latin typeface="微软雅黑"/>
                <a:ea typeface="微软雅黑"/>
              </a:rPr>
              <a:t>回看拉长即失速：</a:t>
            </a: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性能退化、计算爆炸</a:t>
            </a:r>
          </a:p>
          <a:p>
            <a:pPr algn="l">
              <a:lnSpc>
                <a:spcPct val="112000"/>
              </a:lnSpc>
              <a:spcBef>
                <a:spcPts val="900"/>
              </a:spcBef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· </a:t>
            </a:r>
            <a:r>
              <a:rPr sz="1250" b="1" i="0">
                <a:solidFill>
                  <a:srgbClr val="333333"/>
                </a:solidFill>
                <a:latin typeface="微软雅黑"/>
                <a:ea typeface="微软雅黑"/>
              </a:rPr>
              <a:t>时刻 token 混合变量：</a:t>
            </a: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不同物理量纲压进同一向量，学不出变量中心表示</a:t>
            </a:r>
          </a:p>
          <a:p>
            <a:pPr algn="l">
              <a:lnSpc>
                <a:spcPct val="112000"/>
              </a:lnSpc>
              <a:spcBef>
                <a:spcPts val="900"/>
              </a:spcBef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· </a:t>
            </a:r>
            <a:r>
              <a:rPr sz="1250" b="1" i="0">
                <a:solidFill>
                  <a:srgbClr val="333333"/>
                </a:solidFill>
                <a:latin typeface="微软雅黑"/>
                <a:ea typeface="微软雅黑"/>
              </a:rPr>
              <a:t>感受野过局部：</a:t>
            </a: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单时刻承载不了时间未对齐的事件</a:t>
            </a:r>
          </a:p>
          <a:p>
            <a:pPr algn="l">
              <a:lnSpc>
                <a:spcPct val="112000"/>
              </a:lnSpc>
              <a:spcBef>
                <a:spcPts val="900"/>
              </a:spcBef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· </a:t>
            </a:r>
            <a:r>
              <a:rPr sz="1250" b="1" i="0">
                <a:solidFill>
                  <a:srgbClr val="333333"/>
                </a:solidFill>
                <a:latin typeface="微软雅黑"/>
                <a:ea typeface="微软雅黑"/>
              </a:rPr>
              <a:t>置换不变性用错位置：</a:t>
            </a: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时序本身有序，注意力却对顺序不敏感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486400"/>
            <a:ext cx="11091672" cy="7772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548640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C00000"/>
                </a:solidFill>
                <a:latin typeface="微软雅黑"/>
                <a:ea typeface="微软雅黑"/>
              </a:rPr>
              <a:t>结论先行：不是 Transformer 无效，</a:t>
            </a:r>
            <a:r>
              <a:rPr sz="1500" b="0" i="0">
                <a:solidFill>
                  <a:srgbClr val="333333"/>
                </a:solidFill>
                <a:latin typeface="微软雅黑"/>
                <a:ea typeface="微软雅黑"/>
              </a:rPr>
              <a:t>而是被用错了维度——换一种 token 组织方式即可翻盘。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" cy="7772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4000" b="1" i="0">
                <a:solidFill>
                  <a:srgbClr val="C9D6E6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9669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 i="0">
                <a:solidFill>
                  <a:srgbClr val="333333"/>
                </a:solidFill>
                <a:latin typeface="微软雅黑"/>
                <a:ea typeface="微软雅黑"/>
              </a:rPr>
              <a:t>已有改进分四类：都在改组件或序列处理，没人动维度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11091672" cy="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5440680" cy="1920240"/>
          </a:xfrm>
          <a:prstGeom prst="rect">
            <a:avLst/>
          </a:prstGeom>
          <a:solidFill>
            <a:srgbClr val="F2F5F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2057400"/>
            <a:ext cx="393192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/>
                <a:ea typeface="微软雅黑"/>
              </a:rPr>
              <a:t>Ⅰ · 组件适配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487168"/>
            <a:ext cx="39319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改造注意力求长序列复杂度：Autoformer、Informer、FEDformer——方向正被线性模型挑战</a:t>
            </a:r>
          </a:p>
        </p:txBody>
      </p:sp>
      <p:sp>
        <p:nvSpPr>
          <p:cNvPr id="8" name="Rectangle 7"/>
          <p:cNvSpPr/>
          <p:nvPr/>
        </p:nvSpPr>
        <p:spPr>
          <a:xfrm>
            <a:off x="4983479" y="233172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221223" y="233172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58967" y="233172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96712" y="233172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34455" y="233172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9631" y="1828800"/>
            <a:ext cx="5440680" cy="1920240"/>
          </a:xfrm>
          <a:prstGeom prst="rect">
            <a:avLst/>
          </a:prstGeom>
          <a:solidFill>
            <a:srgbClr val="F2F5F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1" y="2057400"/>
            <a:ext cx="393192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/>
                <a:ea typeface="微软雅黑"/>
              </a:rPr>
              <a:t>Ⅱ · 序列处理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39319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平稳化、通道独立、分块：Stationary、PatchTST——单变量变强，变量交互被放弃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34472" y="233172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872215" y="233172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109959" y="233172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1347703" y="233172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634472" y="260603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872215" y="260603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1109959" y="260603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1347703" y="260603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3931920"/>
            <a:ext cx="5440680" cy="1920240"/>
          </a:xfrm>
          <a:prstGeom prst="rect">
            <a:avLst/>
          </a:prstGeom>
          <a:solidFill>
            <a:srgbClr val="F2F5F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59" y="4160520"/>
            <a:ext cx="393192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/>
                <a:ea typeface="微软雅黑"/>
              </a:rPr>
              <a:t>Ⅲ · 组件 + 架构双改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4590288"/>
            <a:ext cx="39319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Crossformer 显式建跨时间跨变量依赖——时间未对齐的 patch 引入交互噪声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79" y="443484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221223" y="443484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58967" y="443484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983479" y="470915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221223" y="470915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458967" y="4709159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074919" y="4617720"/>
            <a:ext cx="4572" cy="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070347" y="4608576"/>
            <a:ext cx="9144" cy="118872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312663" y="4617720"/>
            <a:ext cx="4572" cy="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308091" y="4608576"/>
            <a:ext cx="9144" cy="118872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199631" y="3931920"/>
            <a:ext cx="5440680" cy="1920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73951" y="4160520"/>
            <a:ext cx="393192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Ⅳ · 维度倒置（本文）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3951" y="4590288"/>
            <a:ext cx="39319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8F0F8"/>
                </a:solidFill>
                <a:latin typeface="微软雅黑"/>
                <a:ea typeface="微软雅黑"/>
              </a:rPr>
              <a:t>组件一个不改，只在倒置后的维度上使用——迄今唯一的第四类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634472" y="4306824"/>
            <a:ext cx="146304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0872215" y="4306824"/>
            <a:ext cx="146304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1109959" y="4306824"/>
            <a:ext cx="146304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1347703" y="4306824"/>
            <a:ext cx="146304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" cy="7772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4000" b="1" i="0">
                <a:solidFill>
                  <a:srgbClr val="C9D6E6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9669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 i="0">
                <a:solidFill>
                  <a:srgbClr val="333333"/>
                </a:solidFill>
                <a:latin typeface="微软雅黑"/>
                <a:ea typeface="微软雅黑"/>
              </a:rPr>
              <a:t>三个组件各归其位：注意力管变量，FFN 管时间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11091672" cy="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5029200" cy="12344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448056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F4E79"/>
                </a:solidFill>
                <a:latin typeface="微软雅黑"/>
                <a:ea typeface="微软雅黑"/>
              </a:rPr>
              <a:t>Attention → 多变量相关性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41448"/>
            <a:ext cx="44805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对 N 个 variate token 打分，注意力矩阵即相关性图：浅层学回看、深层学未来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37560"/>
            <a:ext cx="5029200" cy="12344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448056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F4E79"/>
                </a:solidFill>
                <a:latin typeface="微软雅黑"/>
                <a:ea typeface="微软雅黑"/>
              </a:rPr>
              <a:t>FFN → 序列表示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04487"/>
            <a:ext cx="44805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逐变量两层 MLP 学非线性表示并解码预测——承担全部时间维学习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800600"/>
            <a:ext cx="5029200" cy="12344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983480"/>
            <a:ext cx="448056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F4E79"/>
                </a:solidFill>
                <a:latin typeface="微软雅黑"/>
                <a:ea typeface="微软雅黑"/>
              </a:rPr>
              <a:t>LayerNorm → 变量对齐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67528"/>
            <a:ext cx="44805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逐变量归一化到高斯分布，削减变量间分布差异，缓解非平稳</a:t>
            </a:r>
          </a:p>
        </p:txBody>
      </p:sp>
      <p:pic>
        <p:nvPicPr>
          <p:cNvPr id="14" name="Picture 13" descr="fig7_atten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874519"/>
            <a:ext cx="5806440" cy="223113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774436" y="1842515"/>
            <a:ext cx="5870448" cy="2295144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06440" y="4169663"/>
            <a:ext cx="580644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595959"/>
                </a:solidFill>
                <a:latin typeface="微软雅黑"/>
                <a:ea typeface="微软雅黑"/>
              </a:rPr>
              <a:t>来源：Liu et al., iTransformer, ICLR 2024 · Figure 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06440" y="4553712"/>
            <a:ext cx="5806440" cy="14813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80760" y="4553712"/>
            <a:ext cx="5303520" cy="1481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左图  </a:t>
            </a:r>
            <a:r>
              <a:rPr sz="1250" b="0" i="0">
                <a:solidFill>
                  <a:srgbClr val="333333"/>
                </a:solidFill>
                <a:latin typeface="微软雅黑"/>
                <a:ea typeface="微软雅黑"/>
              </a:rPr>
              <a:t>CKA 高相似 ↔ 低 MSE，iTransformer 全部落在一侧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右图  </a:t>
            </a:r>
            <a:r>
              <a:rPr sz="1250" b="0" i="0">
                <a:solidFill>
                  <a:srgbClr val="333333"/>
                </a:solidFill>
                <a:latin typeface="微软雅黑"/>
                <a:ea typeface="微软雅黑"/>
              </a:rPr>
              <a:t>浅层注意力 ≈ 回看相关性，深层 ≈ 未来相关性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" cy="7772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4000" b="1" i="0">
                <a:solidFill>
                  <a:srgbClr val="C9D6E6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9669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 i="0">
                <a:solidFill>
                  <a:srgbClr val="333333"/>
                </a:solidFill>
                <a:latin typeface="微软雅黑"/>
                <a:ea typeface="微软雅黑"/>
              </a:rPr>
              <a:t>方法总览：同一套组件，token 从「时刻」换成「变量」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11091672" cy="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ig4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984" y="1691640"/>
            <a:ext cx="7863840" cy="3337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125979" y="1659636"/>
            <a:ext cx="7927848" cy="3401568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57984" y="5084064"/>
            <a:ext cx="786384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595959"/>
                </a:solidFill>
                <a:latin typeface="微软雅黑"/>
                <a:ea typeface="微软雅黑"/>
              </a:rPr>
              <a:t>来源：Liu et al., iTransformer, ICLR 2024 · Figure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5084064"/>
            <a:ext cx="5605272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150" b="0" i="1">
                <a:solidFill>
                  <a:srgbClr val="595959"/>
                </a:solidFill>
                <a:latin typeface="微软雅黑"/>
                <a:ea typeface="微软雅黑"/>
              </a:rPr>
              <a:t>token 已聚合整段序列 → 位置编码不再必要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440680"/>
            <a:ext cx="3483864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5440680"/>
            <a:ext cx="31546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F4E79"/>
                </a:solidFill>
                <a:latin typeface="微软雅黑"/>
                <a:ea typeface="微软雅黑"/>
              </a:rPr>
              <a:t>① 嵌入 MLP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</a:rPr>
              <a:t>整条变量序列压成 1 个 variate token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2504" y="5440680"/>
            <a:ext cx="320040" cy="7132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595959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2544" y="5440680"/>
            <a:ext cx="3483864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5424" y="5440680"/>
            <a:ext cx="31546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F4E79"/>
                </a:solidFill>
                <a:latin typeface="微软雅黑"/>
                <a:ea typeface="微软雅黑"/>
              </a:rPr>
              <a:t>② L 层标准块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</a:rPr>
              <a:t>注意力跨变量 · FFN 跨时间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8" y="5440680"/>
            <a:ext cx="320040" cy="7132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595959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6448" y="5440680"/>
            <a:ext cx="3483864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9327" y="5440680"/>
            <a:ext cx="31546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F4E79"/>
                </a:solidFill>
                <a:latin typeface="微软雅黑"/>
                <a:ea typeface="微软雅黑"/>
              </a:rPr>
              <a:t>③ 投影 MLP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</a:rPr>
              <a:t>从 token 表示直接输出全部预测点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" cy="7772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4000" b="1" i="0">
                <a:solidFill>
                  <a:srgbClr val="C9D6E6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9669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 i="0">
                <a:solidFill>
                  <a:srgbClr val="333333"/>
                </a:solidFill>
                <a:latin typeface="微软雅黑"/>
                <a:ea typeface="微软雅黑"/>
              </a:rPr>
              <a:t>协议公平：同窗口、同长度、十个先进模型同台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11091672" cy="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3520440" cy="28346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30632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F4E79"/>
                </a:solidFill>
                <a:latin typeface="微软雅黑"/>
                <a:ea typeface="微软雅黑"/>
              </a:rPr>
              <a:t>数据集 · 7 个真实基准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542032"/>
            <a:ext cx="3063240" cy="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30632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3333"/>
                </a:solidFill>
                <a:latin typeface="微软雅黑"/>
                <a:ea typeface="微软雅黑"/>
              </a:rPr>
              <a:t>ECL（321 变量）· Traffic（862 变量）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3333"/>
                </a:solidFill>
                <a:latin typeface="微软雅黑"/>
                <a:ea typeface="微软雅黑"/>
              </a:rPr>
              <a:t>Weather · Solar-Energy · Exchange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3333"/>
                </a:solidFill>
                <a:latin typeface="微软雅黑"/>
                <a:ea typeface="微软雅黑"/>
              </a:rPr>
              <a:t>PEMS · ETT（4 个子集）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874519"/>
            <a:ext cx="3520440" cy="28346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30632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F4E79"/>
                </a:solidFill>
                <a:latin typeface="微软雅黑"/>
                <a:ea typeface="微软雅黑"/>
              </a:rPr>
              <a:t>基线 · 10 个先进模型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542032"/>
            <a:ext cx="3063240" cy="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2697480"/>
            <a:ext cx="30632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3333"/>
                </a:solidFill>
                <a:latin typeface="微软雅黑"/>
                <a:ea typeface="微软雅黑"/>
              </a:rPr>
              <a:t>Transformer 类：Autoformer / FEDformer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3333"/>
                </a:solidFill>
                <a:latin typeface="微软雅黑"/>
                <a:ea typeface="微软雅黑"/>
              </a:rPr>
              <a:t>Stationary / Crossformer / PatchTST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3333"/>
                </a:solidFill>
                <a:latin typeface="微软雅黑"/>
                <a:ea typeface="微软雅黑"/>
              </a:rPr>
              <a:t>线性类：DLinear / TiDE / RLinear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3333"/>
                </a:solidFill>
                <a:latin typeface="微软雅黑"/>
                <a:ea typeface="微软雅黑"/>
              </a:rPr>
              <a:t>TCN 类：SCINet / TimesNet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874519"/>
            <a:ext cx="3502152" cy="28346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2103120"/>
            <a:ext cx="3044952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F4E79"/>
                </a:solidFill>
                <a:latin typeface="微软雅黑"/>
                <a:ea typeface="微软雅黑"/>
              </a:rPr>
              <a:t>评测协议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2542032"/>
            <a:ext cx="3044952" cy="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2697480"/>
            <a:ext cx="304495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3333"/>
                </a:solidFill>
                <a:latin typeface="微软雅黑"/>
                <a:ea typeface="微软雅黑"/>
              </a:rPr>
              <a:t>回看窗口统一 T = 96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3333"/>
                </a:solidFill>
                <a:latin typeface="微软雅黑"/>
                <a:ea typeface="微软雅黑"/>
              </a:rPr>
              <a:t>预测长度 {96, 192, 336, 720}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3333"/>
                </a:solidFill>
                <a:latin typeface="微软雅黑"/>
                <a:ea typeface="微软雅黑"/>
              </a:rPr>
              <a:t>（PEMS 为 {12, 24, 36, 48}）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3333"/>
                </a:solidFill>
                <a:latin typeface="微软雅黑"/>
                <a:ea typeface="微软雅黑"/>
              </a:rPr>
              <a:t>指标 MSE / MAE：最优标红、次优下划线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74920"/>
            <a:ext cx="35204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59" y="5074920"/>
            <a:ext cx="2971800" cy="9601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微软雅黑"/>
                <a:ea typeface="微软雅黑"/>
              </a:rPr>
              <a:t>862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5074920"/>
            <a:ext cx="1828800" cy="9601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Traffic 变量数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5074920"/>
            <a:ext cx="35204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17720" y="5074920"/>
            <a:ext cx="2971800" cy="9601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微软雅黑"/>
                <a:ea typeface="微软雅黑"/>
              </a:rPr>
              <a:t>321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5074920"/>
            <a:ext cx="1828800" cy="9601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ECL 变量数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5074920"/>
            <a:ext cx="350215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0" y="5074920"/>
            <a:ext cx="2953512" cy="9601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1F4E79"/>
                </a:solidFill>
                <a:latin typeface="微软雅黑"/>
                <a:ea typeface="微软雅黑"/>
              </a:rPr>
              <a:t>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5074920"/>
            <a:ext cx="1810512" cy="9601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Weather 变量数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" cy="7772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4000" b="1" i="0">
                <a:solidFill>
                  <a:srgbClr val="C9D6E6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9669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 i="0">
                <a:solidFill>
                  <a:srgbClr val="333333"/>
                </a:solidFill>
                <a:latin typeface="微软雅黑"/>
                <a:ea typeface="微软雅黑"/>
              </a:rPr>
              <a:t>主结果：四大基准 MSE 全部第一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11091672" cy="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65960"/>
          <a:ext cx="4480560" cy="306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数据集</a:t>
                      </a:r>
                    </a:p>
                  </a:txBody>
                  <a:tcPr marR="54864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iTransformer</a:t>
                      </a:r>
                    </a:p>
                  </a:txBody>
                  <a:tcPr marR="54864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对比基线</a:t>
                      </a:r>
                    </a:p>
                  </a:txBody>
                  <a:tcPr marR="54864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Traffic</a:t>
                      </a:r>
                    </a:p>
                  </a:txBody>
                  <a:tcPr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0.428</a:t>
                      </a:r>
                    </a:p>
                  </a:txBody>
                  <a:tcPr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0.481</a:t>
                      </a:r>
                    </a:p>
                    <a:p>
                      <a:pPr algn="ctr"/>
                      <a:r>
                        <a:rPr sz="9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PatchTST</a:t>
                      </a:r>
                    </a:p>
                  </a:txBody>
                  <a:tcPr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ECL</a:t>
                      </a:r>
                    </a:p>
                  </a:txBody>
                  <a:tcPr marR="5486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0.178</a:t>
                      </a:r>
                    </a:p>
                  </a:txBody>
                  <a:tcPr marR="5486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0.192</a:t>
                      </a:r>
                    </a:p>
                    <a:p>
                      <a:pPr algn="ctr"/>
                      <a:r>
                        <a:rPr sz="9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TimesNet</a:t>
                      </a:r>
                    </a:p>
                  </a:txBody>
                  <a:tcPr marR="54864"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Weather</a:t>
                      </a:r>
                    </a:p>
                  </a:txBody>
                  <a:tcPr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0.258</a:t>
                      </a:r>
                    </a:p>
                  </a:txBody>
                  <a:tcPr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0.259</a:t>
                      </a:r>
                    </a:p>
                    <a:p>
                      <a:pPr algn="ctr"/>
                      <a:r>
                        <a:rPr sz="9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TimesNet</a:t>
                      </a:r>
                    </a:p>
                  </a:txBody>
                  <a:tcPr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Solar-Energy</a:t>
                      </a:r>
                    </a:p>
                  </a:txBody>
                  <a:tcPr marR="5486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0.233</a:t>
                      </a:r>
                    </a:p>
                  </a:txBody>
                  <a:tcPr marR="5486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0.261</a:t>
                      </a:r>
                    </a:p>
                    <a:p>
                      <a:pPr algn="ctr"/>
                      <a:r>
                        <a:rPr sz="9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Stationary</a:t>
                      </a:r>
                    </a:p>
                  </a:txBody>
                  <a:tcPr marR="54864"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138928"/>
            <a:ext cx="448056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微软雅黑"/>
                <a:ea typeface="微软雅黑"/>
              </a:rPr>
              <a:t>Table 1 · 回看 96，4 个预测长度平均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0" y="1627632"/>
            <a:ext cx="619963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333333"/>
                </a:solidFill>
                <a:latin typeface="微软雅黑"/>
                <a:ea typeface="微软雅黑"/>
              </a:rPr>
              <a:t>MSE（越低越好）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40680" y="1965960"/>
          <a:ext cx="6199632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394960"/>
            <a:ext cx="11091672" cy="8686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394960"/>
            <a:ext cx="104698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</a:rPr>
              <a:t>框架级收益：倒置对整个 Transformer 家族通用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5 个变体套用后 MSE 平均降 16.8%–38.9%；vanilla Transformer 在 ETT 上 2.750 → 0.383（Table 2 / Table 7）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" cy="7772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4000" b="1" i="0">
                <a:solidFill>
                  <a:srgbClr val="C9D6E6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9669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 i="0">
                <a:solidFill>
                  <a:srgbClr val="333333"/>
                </a:solidFill>
                <a:latin typeface="微软雅黑"/>
                <a:ea typeface="微软雅黑"/>
              </a:rPr>
              <a:t>高维不慌：862 变量下显存压至基线 1/6.7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11091672" cy="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ig10_effici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664" y="1691640"/>
            <a:ext cx="8412480" cy="300837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851660" y="1659636"/>
            <a:ext cx="8476488" cy="3072384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83664" y="4754880"/>
            <a:ext cx="841248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595959"/>
                </a:solidFill>
                <a:latin typeface="微软雅黑"/>
                <a:ea typeface="微软雅黑"/>
              </a:rPr>
              <a:t>来源：Liu et al., iTransformer, ICLR 2024 · Figure 10（Traffic 862 变量 · Weather 21 变量）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120640"/>
            <a:ext cx="2642616" cy="868680"/>
          </a:xfrm>
          <a:prstGeom prst="rect">
            <a:avLst/>
          </a:prstGeom>
          <a:solidFill>
            <a:srgbClr val="F2F5F9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5230368"/>
            <a:ext cx="2459736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50" b="1" i="0">
                <a:solidFill>
                  <a:srgbClr val="1F4E79"/>
                </a:solidFill>
                <a:latin typeface="微软雅黑"/>
                <a:ea typeface="微软雅黑"/>
              </a:rPr>
              <a:t>1.28 GB · 91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14416"/>
            <a:ext cx="2459736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</a:rPr>
              <a:t>iTransformer（高效训练）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5120640"/>
            <a:ext cx="2642616" cy="8686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56432" y="5230368"/>
            <a:ext cx="2459736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50" b="1" i="0">
                <a:solidFill>
                  <a:srgbClr val="333333"/>
                </a:solidFill>
                <a:latin typeface="微软雅黑"/>
                <a:ea typeface="微软雅黑"/>
              </a:rPr>
              <a:t>7.50 GB · 265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5614416"/>
            <a:ext cx="2459736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</a:rPr>
              <a:t>iTransformer（完整版）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5120640"/>
            <a:ext cx="2642616" cy="8686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72783" y="5230368"/>
            <a:ext cx="2459736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50" b="1" i="0">
                <a:solidFill>
                  <a:srgbClr val="333333"/>
                </a:solidFill>
                <a:latin typeface="微软雅黑"/>
                <a:ea typeface="微软雅黑"/>
              </a:rPr>
              <a:t>8.58 GB · 635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3" y="5614416"/>
            <a:ext cx="2459736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</a:rPr>
              <a:t>PatchTST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97696" y="5120640"/>
            <a:ext cx="2642616" cy="8686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89136" y="5230368"/>
            <a:ext cx="2459736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50" b="1" i="0">
                <a:solidFill>
                  <a:srgbClr val="333333"/>
                </a:solidFill>
                <a:latin typeface="微软雅黑"/>
                <a:ea typeface="微软雅黑"/>
              </a:rPr>
              <a:t>9.74 GB · 702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9136" y="5614416"/>
            <a:ext cx="2459736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</a:rPr>
              <a:t>Crossformer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08192"/>
            <a:ext cx="11091672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高效训练：每批随机采样部分变量，倒置结构让变量通道天然可增删，性能仍与全变量训练相当（Figure 8）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" cy="7772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4000" b="1" i="0">
                <a:solidFill>
                  <a:srgbClr val="C9D6E6"/>
                </a:solidFill>
                <a:latin typeface="微软雅黑"/>
                <a:ea typeface="微软雅黑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9669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 i="0">
                <a:solidFill>
                  <a:srgbClr val="333333"/>
                </a:solidFill>
                <a:latin typeface="微软雅黑"/>
                <a:ea typeface="微软雅黑"/>
              </a:rPr>
              <a:t>消融：组件一个没改，放对维度才有效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11091672" cy="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965960"/>
          <a:ext cx="5943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594360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微软雅黑"/>
                <a:ea typeface="微软雅黑"/>
              </a:rPr>
              <a:t>Traffic · 回看 96 · 4 个预测长度平均（Table 3）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148840"/>
            <a:ext cx="4873752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· </a:t>
            </a:r>
            <a:r>
              <a:rPr sz="1300" b="1" i="0">
                <a:solidFill>
                  <a:srgbClr val="333333"/>
                </a:solidFill>
                <a:latin typeface="微软雅黑"/>
                <a:ea typeface="微软雅黑"/>
              </a:rPr>
              <a:t>注意力是主收益：</a:t>
            </a:r>
            <a:r>
              <a:rPr sz="1200" b="0" i="0">
                <a:solidFill>
                  <a:srgbClr val="595959"/>
                </a:solidFill>
                <a:latin typeface="微软雅黑"/>
                <a:ea typeface="微软雅黑"/>
              </a:rPr>
              <a:t>去掉后 0.428 → 0.456，仍优于最优基线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· </a:t>
            </a:r>
            <a:r>
              <a:rPr sz="1300" b="1" i="0">
                <a:solidFill>
                  <a:srgbClr val="333333"/>
                </a:solidFill>
                <a:latin typeface="微软雅黑"/>
                <a:ea typeface="微软雅黑"/>
              </a:rPr>
              <a:t>FFN 承担时间：</a:t>
            </a:r>
            <a:r>
              <a:rPr sz="1200" b="0" i="0">
                <a:solidFill>
                  <a:srgbClr val="595959"/>
                </a:solidFill>
                <a:latin typeface="微软雅黑"/>
                <a:ea typeface="微软雅黑"/>
              </a:rPr>
              <a:t>去掉后 0.461，与去注意力相当——分工互补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· </a:t>
            </a:r>
            <a:r>
              <a:rPr sz="1300" b="1" i="0">
                <a:solidFill>
                  <a:srgbClr val="333333"/>
                </a:solidFill>
                <a:latin typeface="微软雅黑"/>
                <a:ea typeface="微软雅黑"/>
              </a:rPr>
              <a:t>维度用反即崩：</a:t>
            </a:r>
            <a:r>
              <a:rPr sz="1200" b="0" i="0">
                <a:solidFill>
                  <a:srgbClr val="595959"/>
                </a:solidFill>
                <a:latin typeface="微软雅黑"/>
                <a:ea typeface="微软雅黑"/>
              </a:rPr>
              <a:t>vanilla 配置 0.863，双 Attention 0.913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5029200"/>
            <a:ext cx="4873752" cy="9144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0" y="5029200"/>
            <a:ext cx="4343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00000"/>
                </a:solidFill>
                <a:latin typeface="微软雅黑"/>
                <a:ea typeface="微软雅黑"/>
              </a:rPr>
              <a:t>同一套组件：放对维度 0.428，放错维度 0.913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" cy="7772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4000" b="1" i="0">
                <a:solidFill>
                  <a:srgbClr val="C9D6E6"/>
                </a:solidFill>
                <a:latin typeface="微软雅黑"/>
                <a:ea typeface="微软雅黑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9669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 i="0">
                <a:solidFill>
                  <a:srgbClr val="333333"/>
                </a:solidFill>
                <a:latin typeface="微软雅黑"/>
                <a:ea typeface="微软雅黑"/>
              </a:rPr>
              <a:t>结论：维度组织比组件堆叠更根本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11091672" cy="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5440680" cy="29718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8920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/>
                <a:ea typeface="微软雅黑"/>
              </a:rPr>
              <a:t>贡献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42032"/>
            <a:ext cx="4892040" cy="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724912"/>
            <a:ext cx="48920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· </a:t>
            </a:r>
            <a:r>
              <a:rPr sz="1250" b="1" i="0">
                <a:solidFill>
                  <a:srgbClr val="333333"/>
                </a:solidFill>
                <a:latin typeface="微软雅黑"/>
                <a:ea typeface="微软雅黑"/>
              </a:rPr>
              <a:t>倒置视角：</a:t>
            </a: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variate token 让原生组件各展所长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· </a:t>
            </a:r>
            <a:r>
              <a:rPr sz="1250" b="1" i="0">
                <a:solidFill>
                  <a:srgbClr val="333333"/>
                </a:solidFill>
                <a:latin typeface="微软雅黑"/>
                <a:ea typeface="微软雅黑"/>
              </a:rPr>
              <a:t>框架通用：</a:t>
            </a: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5 个变体套用即受益，MSE 平均降 16.8%–38.9%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· </a:t>
            </a:r>
            <a:r>
              <a:rPr sz="1250" b="1" i="0">
                <a:solidFill>
                  <a:srgbClr val="333333"/>
                </a:solidFill>
                <a:latin typeface="微软雅黑"/>
                <a:ea typeface="微软雅黑"/>
              </a:rPr>
              <a:t>全面 SOTA：</a:t>
            </a: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并给出组件与架构选择的系统分析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874519"/>
            <a:ext cx="5440680" cy="29718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3952" y="2103120"/>
            <a:ext cx="48920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  <a:latin typeface="微软雅黑"/>
                <a:ea typeface="微软雅黑"/>
              </a:rPr>
              <a:t>不足与展望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73952" y="2542032"/>
            <a:ext cx="4892040" cy="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2724912"/>
            <a:ext cx="48920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· </a:t>
            </a:r>
            <a:r>
              <a:rPr sz="1250" b="1" i="0">
                <a:solidFill>
                  <a:srgbClr val="333333"/>
                </a:solidFill>
                <a:latin typeface="微软雅黑"/>
                <a:ea typeface="微软雅黑"/>
              </a:rPr>
              <a:t>复杂度瓶颈：</a:t>
            </a: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注意力 O(N²)，862 变量完整训练 7.5GB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· </a:t>
            </a:r>
            <a:r>
              <a:rPr sz="1250" b="1" i="0">
                <a:solidFill>
                  <a:srgbClr val="333333"/>
                </a:solidFill>
                <a:latin typeface="微软雅黑"/>
                <a:ea typeface="微软雅黑"/>
              </a:rPr>
              <a:t>缓解：</a:t>
            </a: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高效注意力 / 每批变量采样（1.28GB 达标）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· </a:t>
            </a:r>
            <a:r>
              <a:rPr sz="1250" b="1" i="0">
                <a:solidFill>
                  <a:srgbClr val="333333"/>
                </a:solidFill>
                <a:latin typeface="微软雅黑"/>
                <a:ea typeface="微软雅黑"/>
              </a:rPr>
              <a:t>展望：</a:t>
            </a: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分布偏移下的细粒度变量 token 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120640"/>
            <a:ext cx="11091672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E8F0F8"/>
                </a:solidFill>
                <a:latin typeface="微软雅黑"/>
                <a:ea typeface="微软雅黑"/>
              </a:rPr>
              <a:t>迁移思考  </a:t>
            </a:r>
            <a:r>
              <a:rPr sz="1300" b="0" i="0">
                <a:solidFill>
                  <a:srgbClr val="FFFFFF"/>
                </a:solidFill>
                <a:latin typeface="微软雅黑"/>
                <a:ea typeface="微软雅黑"/>
              </a:rPr>
              <a:t>火险多指标时序：变量少、序列长——把时间交给 FFN、把变量交给注意力，variate token 正合适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5120640"/>
            <a:ext cx="1280160" cy="10058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955</Words>
  <Application>Microsoft Office PowerPoint</Application>
  <PresentationFormat>宽屏</PresentationFormat>
  <Paragraphs>142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吴俊霖</dc:creator>
  <cp:keywords/>
  <dc:description>generated using python-pptx</dc:description>
  <cp:lastModifiedBy>俊霖 吴</cp:lastModifiedBy>
  <cp:revision>2</cp:revision>
  <dcterms:created xsi:type="dcterms:W3CDTF">2013-01-27T09:14:16Z</dcterms:created>
  <dcterms:modified xsi:type="dcterms:W3CDTF">2026-10-15T07:02:26Z</dcterms:modified>
  <cp:category/>
</cp:coreProperties>
</file>
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大家好，我是WJL，一名专注于AI Agent与数据可视化的开发者。从Vue小程序起步，经历地理信息大屏、推荐算法与时间序列预测的锤炼，如今专注于以大模型为核心的多Agent系统与Agent安全测试。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一句话定位：从火险大屏到多Agent系统，把看数据升级为由系统替你研判数据。三组核心数字：17+公开仓库、8+完整项目、5大技术方向。这条主线贯穿我所有的技术选择与工程实践。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六组技能矩阵：前端开发涵盖Vue与小程序生态，后端工程覆盖Python与数据库技术栈，AI工程专注LangChain与大模型应用，Agent安全聚焦红队攻防，算法与数据覆盖机器学习全链路，工程美学贯穿动效与视觉设计。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焰哨系统是多Agent协同的智慧火险预警平台，基于LangGraph编排8节点工作流，实现研判全流程自动化与人工监督并存。技术栈共技Vue3、FastAPI、LangGraph、SSE等。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Agent-Gauntlet是为焰哨系统打造的红队评测平台，针对Agent系统的间接注入风险，实现工具返回夹带注入器与混沌故障注入，形成攻击防御修复的完整安全闭环。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火防三部曲：智火卫渝(KNN R²=0.971)、云南大屏(17项功能)、焰哨(LangGraph 8节点)，从机器学习到可视化到Agent的完整演进链。这是我技术成长的完整路径。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个人博客是零模板依赖的多页面站点，开源技能月Haute GSAP Skills和Universal PPT，分别提炼自定义动效体系和17个开源PPT skill。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亮点数据：火点预测R²0.971、NDVI预测R²0.801、推荐精确率0.96/0.99、早停对照0.77vs0.45、Agent 8节点、红队四级判定、大屏17项功能、17+仓库。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成长时间线包含九个关键里程碑：从前端筑基Vue2商城项目，到全栈Vue3应用，到机器学习建模火险预测，到时间序列Informer复现，到推荐算法落地平台，到毕业设计可视化大屏，再到AI Agent系统与Agent安全红队，最终至开源技能沉淀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收尾：既会做系统，也会把方法沉淀为可复用的工程资产。开源双技能Haute GSAP Skills和Universal PPT，分别提炼自定义动效体系和全场景PPT生成系统。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E87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1828800"/>
            <a:ext cx="9144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400" b="1">
                <a:solidFill>
                  <a:srgbClr val="1F4E79"/>
                </a:solidFill>
                <a:latin typeface="Microsoft YaHei"/>
              </a:defRPr>
            </a:pPr>
            <a:r>
              <a:t>WJL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320040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0">
                <a:solidFill>
                  <a:srgbClr val="2E75B6"/>
                </a:solidFill>
                <a:latin typeface="Microsoft YaHei"/>
              </a:defRPr>
            </a:pPr>
            <a:r>
              <a:t>AI Agent × 数据可视化 × 全栈开发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41148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666666"/>
                </a:solidFill>
                <a:latin typeface="Microsoft YaHei"/>
              </a:defRPr>
            </a:pPr>
            <a:r>
              <a:t>从火险大屏到多Agent系统，把「看数据」升级为「由系统替你研判数据」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566928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666666"/>
                </a:solidFill>
                <a:latin typeface="Microsoft YaHei"/>
              </a:defRPr>
            </a:pPr>
            <a:r>
              <a:t>GitHub / Gitee: @WJLGraph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F4E79"/>
                </a:solidFill>
                <a:latin typeface="Microsoft YaHei"/>
              </a:defRPr>
            </a:pPr>
            <a:r>
              <a:t>从火险大屏到多Agent系统，把「看数据」升级为「由系统替你研判数据」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371600" y="2286000"/>
            <a:ext cx="2560320" cy="2286000"/>
          </a:xfrm>
          <a:prstGeom prst="roundRect">
            <a:avLst/>
          </a:prstGeom>
          <a:solidFill>
            <a:srgbClr val="F5F7FA"/>
          </a:solidFill>
          <a:ln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2560320"/>
            <a:ext cx="25603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E8734A"/>
                </a:solidFill>
                <a:latin typeface="Microsoft YaHei"/>
              </a:defRPr>
            </a:pPr>
            <a:r>
              <a:t>17+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365760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666666"/>
                </a:solidFill>
                <a:latin typeface="Microsoft YaHei"/>
              </a:defRPr>
            </a:pPr>
            <a:r>
              <a:t>公开仓库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0" y="2286000"/>
            <a:ext cx="2560320" cy="2286000"/>
          </a:xfrm>
          <a:prstGeom prst="roundRect">
            <a:avLst/>
          </a:prstGeom>
          <a:solidFill>
            <a:srgbClr val="F5F7FA"/>
          </a:solidFill>
          <a:ln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0" y="2560320"/>
            <a:ext cx="25603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E8734A"/>
                </a:solidFill>
                <a:latin typeface="Microsoft YaHei"/>
              </a:defRPr>
            </a:pPr>
            <a:r>
              <a:t>8+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365760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666666"/>
                </a:solidFill>
                <a:latin typeface="Microsoft YaHei"/>
              </a:defRPr>
            </a:pPr>
            <a:r>
              <a:t>完整项目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0" y="2286000"/>
            <a:ext cx="2560320" cy="2286000"/>
          </a:xfrm>
          <a:prstGeom prst="roundRect">
            <a:avLst/>
          </a:prstGeom>
          <a:solidFill>
            <a:srgbClr val="F5F7FA"/>
          </a:solidFill>
          <a:ln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0" y="2560320"/>
            <a:ext cx="25603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E8734A"/>
                </a:solidFill>
                <a:latin typeface="Microsoft YaHei"/>
              </a:defRPr>
            </a:pPr>
            <a:r>
              <a:t>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0" y="365760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666666"/>
                </a:solidFill>
                <a:latin typeface="Microsoft YaHei"/>
              </a:defRPr>
            </a:pPr>
            <a:r>
              <a:t>大技术方向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1F4E79"/>
                </a:solidFill>
                <a:latin typeface="Microsoft YaHei"/>
              </a:defRPr>
            </a:pPr>
            <a:r>
              <a:t>技能矩阵：六组能力，全栈覆盖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645920"/>
            <a:ext cx="3474720" cy="2103120"/>
          </a:xfrm>
          <a:prstGeom prst="roundRect">
            <a:avLst/>
          </a:prstGeom>
          <a:solidFill>
            <a:srgbClr val="F5F7FA"/>
          </a:solidFill>
          <a:ln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F4E79"/>
                </a:solidFill>
                <a:latin typeface="Microsoft YaHei"/>
              </a:defRPr>
            </a:pPr>
            <a:r>
              <a:t>前端开发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377440"/>
            <a:ext cx="31089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66666"/>
                </a:solidFill>
                <a:latin typeface="Microsoft YaHei"/>
              </a:defRPr>
            </a:pPr>
            <a:r>
              <a:t>Vue2/Vue3, Vite, Pinia, Element Plus, ECharts, Three.js, OpenLayers, 微信小程序, GSAP, Lenis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0" y="1645920"/>
            <a:ext cx="3474720" cy="2103120"/>
          </a:xfrm>
          <a:prstGeom prst="roundRect">
            <a:avLst/>
          </a:prstGeom>
          <a:solidFill>
            <a:srgbClr val="F5F7FA"/>
          </a:solidFill>
          <a:ln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54880" y="182880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F4E79"/>
                </a:solidFill>
                <a:latin typeface="Microsoft YaHei"/>
              </a:defRPr>
            </a:pPr>
            <a:r>
              <a:t>后端工程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54880" y="2377440"/>
            <a:ext cx="31089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66666"/>
                </a:solidFill>
                <a:latin typeface="Microsoft YaHei"/>
              </a:defRPr>
            </a:pPr>
            <a:r>
              <a:t>Python, FastAPI, SQLAlchemy, PostgreSQL, JWT, SSE, Flask, Alembic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412480" y="1645920"/>
            <a:ext cx="3474720" cy="2103120"/>
          </a:xfrm>
          <a:prstGeom prst="roundRect">
            <a:avLst/>
          </a:prstGeom>
          <a:solidFill>
            <a:srgbClr val="F5F7FA"/>
          </a:solidFill>
          <a:ln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95360" y="182880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F4E79"/>
                </a:solidFill>
                <a:latin typeface="Microsoft YaHei"/>
              </a:defRPr>
            </a:pPr>
            <a:r>
              <a:t>AI工程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95360" y="2377440"/>
            <a:ext cx="31089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66666"/>
                </a:solidFill>
                <a:latin typeface="Microsoft YaHei"/>
              </a:defRPr>
            </a:pPr>
            <a:r>
              <a:t>LangChain/LangGraph, 多Agent编排, RAG, HITL, Prompt工程, MCP, Langfuse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4206240"/>
            <a:ext cx="3474720" cy="2103120"/>
          </a:xfrm>
          <a:prstGeom prst="roundRect">
            <a:avLst/>
          </a:prstGeom>
          <a:solidFill>
            <a:srgbClr val="F5F7FA"/>
          </a:solidFill>
          <a:ln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438912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F4E79"/>
                </a:solidFill>
                <a:latin typeface="Microsoft YaHei"/>
              </a:defRPr>
            </a:pPr>
            <a:r>
              <a:t>Agent安全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4937759"/>
            <a:ext cx="31089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66666"/>
                </a:solidFill>
                <a:latin typeface="Microsoft YaHei"/>
              </a:defRPr>
            </a:pPr>
            <a:r>
              <a:t>红队测试, 提示注入(直接/间接/工具返回), 蜜罐, 混沌注入, defense_score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0" y="4206240"/>
            <a:ext cx="3474720" cy="2103120"/>
          </a:xfrm>
          <a:prstGeom prst="roundRect">
            <a:avLst/>
          </a:prstGeom>
          <a:solidFill>
            <a:srgbClr val="F5F7FA"/>
          </a:solidFill>
          <a:ln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754880" y="438912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F4E79"/>
                </a:solidFill>
                <a:latin typeface="Microsoft YaHei"/>
              </a:defRPr>
            </a:pPr>
            <a:r>
              <a:t>算法与数据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54880" y="4937759"/>
            <a:ext cx="31089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66666"/>
                </a:solidFill>
                <a:latin typeface="Microsoft YaHei"/>
              </a:defRPr>
            </a:pPr>
            <a:r>
              <a:t>KNN状态空间重构, Attention-LSTM, Informer, UserCF/ItemCF, scikit-learn, pandas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412480" y="4206240"/>
            <a:ext cx="3474720" cy="2103120"/>
          </a:xfrm>
          <a:prstGeom prst="roundRect">
            <a:avLst/>
          </a:prstGeom>
          <a:solidFill>
            <a:srgbClr val="F5F7FA"/>
          </a:solidFill>
          <a:ln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95360" y="438912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F4E79"/>
                </a:solidFill>
                <a:latin typeface="Microsoft YaHei"/>
              </a:defRPr>
            </a:pPr>
            <a:r>
              <a:t>工程美学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95360" y="4937759"/>
            <a:ext cx="31089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66666"/>
                </a:solidFill>
                <a:latin typeface="Microsoft YaHei"/>
              </a:defRPr>
            </a:pPr>
            <a:r>
              <a:t>GSAP动效体系, 暗亮双主题, 零第三方依赖, 指挥中心级大屏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457200"/>
            <a:ext cx="2286000" cy="548640"/>
          </a:xfrm>
          <a:prstGeom prst="roundRect">
            <a:avLst/>
          </a:prstGeom>
          <a:solidFill>
            <a:srgbClr val="E87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2286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2026.09 — 至今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0" y="45720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F4E79"/>
                </a:solidFill>
                <a:latin typeface="Microsoft YaHei"/>
              </a:defRPr>
            </a:pPr>
            <a:r>
              <a:t>焘哨系统 · Fire Agent — 多Agent协同的智慧火险预警平台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66666"/>
                </a:solidFill>
                <a:latin typeface="Microsoft YaHei"/>
              </a:defRPr>
            </a:pPr>
            <a:r>
              <a:t>技术栈：Vue3 + FastAPI + LangGraph + PostgresSaver + SSE + RAG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01168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  <a:latin typeface="Microsoft YaHei"/>
              </a:defRPr>
            </a:pPr>
            <a:r>
              <a:t>• LangGraph 8节点工作流：parse_task → 双路并行fan-out → join → 报告生成 → 评审循环 → HITL审批门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83464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  <a:latin typeface="Microsoft YaHei"/>
              </a:defRPr>
            </a:pPr>
            <a:r>
              <a:t>• SSE节点级进度推送 + PostgresSaver checkpoint，解决长任务黑盒与中断恢复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6576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  <a:latin typeface="Microsoft YaHei"/>
              </a:defRPr>
            </a:pPr>
            <a:r>
              <a:t>• review_report评审循环 + 失败模板兜底，报告服务零中断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4805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  <a:latin typeface="Microsoft YaHei"/>
              </a:defRPr>
            </a:pPr>
            <a:r>
              <a:t>• Vue3八大模块：2D/3D数字孪生、暗亮双主题、全链路语音交互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457200"/>
            <a:ext cx="1645920" cy="548640"/>
          </a:xfrm>
          <a:prstGeom prst="roundRect">
            <a:avLst/>
          </a:prstGeom>
          <a:solidFill>
            <a:srgbClr val="E87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645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2026.10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45720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F4E79"/>
                </a:solidFill>
                <a:latin typeface="Microsoft YaHei"/>
              </a:defRPr>
            </a:pPr>
            <a:r>
              <a:t>Agent-Gauntlet — 红队测试平台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66666"/>
                </a:solidFill>
                <a:latin typeface="Microsoft YaHei"/>
              </a:defRPr>
            </a:pPr>
            <a:r>
              <a:t>技术栈：Python + YAML Payloads + CLI工具链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01168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  <a:latin typeface="Microsoft YaHei"/>
              </a:defRPr>
            </a:pPr>
            <a:r>
              <a:t>• 工具返回夹带注入器：字符串追加/字典注字段，复现最隐蔽的攻击通路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92608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  <a:latin typeface="Microsoft YaHei"/>
              </a:defRPr>
            </a:pPr>
            <a:r>
              <a:t>• 四级防御判定：LEAKED_PROMPT → COMPROMISED → NOT_TRIGGERED → BLOCKED，量化defense_score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84048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  <a:latin typeface="Microsoft YaHei"/>
              </a:defRPr>
            </a:pPr>
            <a:r>
              <a:t>• 混沌故障注入度量recovery_rate恢复率，与焘哨env门控chaoshook联动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1F4E79"/>
                </a:solidFill>
                <a:latin typeface="Microsoft YaHei"/>
              </a:defRPr>
            </a:pPr>
            <a:r>
              <a:t>火防三部曲 — 从机器学习到可视化大屏的完整演进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645920"/>
            <a:ext cx="3474720" cy="4114800"/>
          </a:xfrm>
          <a:prstGeom prst="roundRect">
            <a:avLst/>
          </a:prstGeom>
          <a:solidFill>
            <a:srgbClr val="F5F7FA"/>
          </a:solidFill>
          <a:ln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3108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1F4E79"/>
                </a:solidFill>
                <a:latin typeface="Microsoft YaHei"/>
              </a:defRPr>
            </a:pPr>
            <a:r>
              <a:t>智火卫渝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46888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666666"/>
                </a:solidFill>
                <a:latin typeface="Microsoft YaHei"/>
              </a:defRPr>
            </a:pPr>
            <a:r>
              <a:t>KNN状态空间重构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200400"/>
            <a:ext cx="3108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E8734A"/>
                </a:solidFill>
                <a:latin typeface="Microsoft YaHei"/>
              </a:defRPr>
            </a:pPr>
            <a:r>
              <a:t>R² = 0.971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29768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666666"/>
                </a:solidFill>
                <a:latin typeface="Microsoft YaHei"/>
              </a:defRPr>
            </a:pPr>
            <a:r>
              <a:t>火点预测精度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0" y="1645920"/>
            <a:ext cx="3474720" cy="4114800"/>
          </a:xfrm>
          <a:prstGeom prst="roundRect">
            <a:avLst/>
          </a:prstGeom>
          <a:solidFill>
            <a:srgbClr val="F5F7FA"/>
          </a:solidFill>
          <a:ln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54880" y="1828800"/>
            <a:ext cx="3108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1F4E79"/>
                </a:solidFill>
                <a:latin typeface="Microsoft YaHei"/>
              </a:defRPr>
            </a:pPr>
            <a:r>
              <a:t>云南大屏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0" y="246888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666666"/>
                </a:solidFill>
                <a:latin typeface="Microsoft YaHei"/>
              </a:defRPr>
            </a:pPr>
            <a:r>
              <a:t>OpenLayers + ECharts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0" y="3200400"/>
            <a:ext cx="3108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E8734A"/>
                </a:solidFill>
                <a:latin typeface="Microsoft YaHei"/>
              </a:defRPr>
            </a:pPr>
            <a:r>
              <a:t>17项功能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80" y="429768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666666"/>
                </a:solidFill>
                <a:latin typeface="Microsoft YaHei"/>
              </a:defRPr>
            </a:pPr>
            <a:r>
              <a:t>火险监测可视化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412480" y="1645920"/>
            <a:ext cx="3474720" cy="4114800"/>
          </a:xfrm>
          <a:prstGeom prst="roundRect">
            <a:avLst/>
          </a:prstGeom>
          <a:solidFill>
            <a:srgbClr val="F5F7FA"/>
          </a:solidFill>
          <a:ln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95360" y="1828800"/>
            <a:ext cx="3108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1F4E79"/>
                </a:solidFill>
                <a:latin typeface="Microsoft YaHei"/>
              </a:defRPr>
            </a:pPr>
            <a:r>
              <a:t>焘哨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95360" y="246888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666666"/>
                </a:solidFill>
                <a:latin typeface="Microsoft YaHei"/>
              </a:defRPr>
            </a:pPr>
            <a:r>
              <a:t>LangGraph 8节点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95360" y="3200400"/>
            <a:ext cx="3108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E8734A"/>
                </a:solidFill>
                <a:latin typeface="Microsoft YaHei"/>
              </a:defRPr>
            </a:pPr>
            <a:r>
              <a:t>SSE + HITL + RAG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95360" y="429768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666666"/>
                </a:solidFill>
                <a:latin typeface="Microsoft YaHei"/>
              </a:defRPr>
            </a:pPr>
            <a:r>
              <a:t>多Agent研判系统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1F4E79"/>
                </a:solidFill>
                <a:latin typeface="Microsoft YaHei"/>
              </a:defRPr>
            </a:pPr>
            <a:r>
              <a:t>更多项目 — 工程美学与开源沉淀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645920"/>
            <a:ext cx="5029200" cy="4114800"/>
          </a:xfrm>
          <a:prstGeom prst="roundRect">
            <a:avLst/>
          </a:prstGeom>
          <a:solidFill>
            <a:srgbClr val="F5F7FA"/>
          </a:solidFill>
          <a:ln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4663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F4E79"/>
                </a:solidFill>
                <a:latin typeface="Microsoft YaHei"/>
              </a:defRPr>
            </a:pPr>
            <a:r>
              <a:t>Wjl-Mine-Blog · 个人博客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560320"/>
            <a:ext cx="4389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• 零模板依赖多页面站点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3200400"/>
            <a:ext cx="4389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• GSAP 3 + ScrollTrigger + Lenis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840479"/>
            <a:ext cx="4389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• 手写正则高亮器 + CJK拆字器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4480559"/>
            <a:ext cx="4389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• 暗亮双主题 + KaTeX + Markdown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0" y="1645920"/>
            <a:ext cx="5029200" cy="4114800"/>
          </a:xfrm>
          <a:prstGeom prst="roundRect">
            <a:avLst/>
          </a:prstGeom>
          <a:solidFill>
            <a:srgbClr val="F5F7FA"/>
          </a:solidFill>
          <a:ln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0" y="1828800"/>
            <a:ext cx="4663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F4E79"/>
                </a:solidFill>
                <a:latin typeface="Microsoft YaHei"/>
              </a:defRPr>
            </a:pPr>
            <a:r>
              <a:t>开源AI Agent技能 ×2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66560" y="256032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Microsoft YaHei"/>
              </a:defRPr>
            </a:pPr>
            <a:r>
              <a:t>Haute · 高端 GSAP Skills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66560" y="310896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Microsoft YaHei"/>
              </a:defRPr>
            </a:pPr>
            <a:r>
              <a:t>  6大风格体系 + 12动效模式 + 12+配方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66560" y="365760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Microsoft YaHei"/>
              </a:defRPr>
            </a:pPr>
            <a:r>
              <a:t>  四路分发(skills CLI/Claude/Cursor/Copilot)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66560" y="420624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Microsoft YaHei"/>
              </a:defRPr>
            </a:pPr>
            <a:r>
              <a:t>Universal PPT · 全场景演示技能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66560" y="4754879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Microsoft YaHei"/>
              </a:defRPr>
            </a:pPr>
            <a:r>
              <a:t>  17个开源skill提炼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66560" y="530352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Microsoft YaHei"/>
              </a:defRPr>
            </a:pPr>
            <a:r>
              <a:t>  6场景×30+风格×8渲染路径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1F4E79"/>
                </a:solidFill>
                <a:latin typeface="Microsoft YaHei"/>
              </a:defRPr>
            </a:pPr>
            <a:r>
              <a:t>亮点数据速查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645920"/>
            <a:ext cx="2560320" cy="1828800"/>
          </a:xfrm>
          <a:prstGeom prst="roundRect">
            <a:avLst/>
          </a:prstGeom>
          <a:solidFill>
            <a:srgbClr val="F5F7FA"/>
          </a:solidFill>
          <a:ln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920240"/>
            <a:ext cx="2560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E8734A"/>
                </a:solidFill>
                <a:latin typeface="Microsoft YaHei"/>
              </a:defRPr>
            </a:pPr>
            <a:r>
              <a:t>R² 0.971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83464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666666"/>
                </a:solidFill>
                <a:latin typeface="Microsoft YaHei"/>
              </a:defRPr>
            </a:pPr>
            <a:r>
              <a:t>火点预测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566160" y="1645920"/>
            <a:ext cx="2560320" cy="1828800"/>
          </a:xfrm>
          <a:prstGeom prst="roundRect">
            <a:avLst/>
          </a:prstGeom>
          <a:solidFill>
            <a:srgbClr val="F5F7FA"/>
          </a:solidFill>
          <a:ln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566160" y="1920240"/>
            <a:ext cx="2560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E8734A"/>
                </a:solidFill>
                <a:latin typeface="Microsoft YaHei"/>
              </a:defRPr>
            </a:pPr>
            <a:r>
              <a:t>R² 0.801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66160" y="283464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666666"/>
                </a:solidFill>
                <a:latin typeface="Microsoft YaHei"/>
              </a:defRPr>
            </a:pPr>
            <a:r>
              <a:t>NDVI预测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0" y="1645920"/>
            <a:ext cx="2560320" cy="1828800"/>
          </a:xfrm>
          <a:prstGeom prst="roundRect">
            <a:avLst/>
          </a:prstGeom>
          <a:solidFill>
            <a:srgbClr val="F5F7FA"/>
          </a:solidFill>
          <a:ln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2560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E8734A"/>
                </a:solidFill>
                <a:latin typeface="Microsoft YaHei"/>
              </a:defRPr>
            </a:pPr>
            <a:r>
              <a:t>0.96/0.99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83464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666666"/>
                </a:solidFill>
                <a:latin typeface="Microsoft YaHei"/>
              </a:defRPr>
            </a:pPr>
            <a:r>
              <a:t>推荐精确率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235440" y="1645920"/>
            <a:ext cx="2560320" cy="1828800"/>
          </a:xfrm>
          <a:prstGeom prst="roundRect">
            <a:avLst/>
          </a:prstGeom>
          <a:solidFill>
            <a:srgbClr val="F5F7FA"/>
          </a:solidFill>
          <a:ln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235440" y="1920240"/>
            <a:ext cx="2560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E8734A"/>
                </a:solidFill>
                <a:latin typeface="Microsoft YaHei"/>
              </a:defRPr>
            </a:pPr>
            <a:r>
              <a:t>0.77vs0.45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35440" y="283464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666666"/>
                </a:solidFill>
                <a:latin typeface="Microsoft YaHei"/>
              </a:defRPr>
            </a:pPr>
            <a:r>
              <a:t>早停对照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3931920"/>
            <a:ext cx="2560320" cy="1828800"/>
          </a:xfrm>
          <a:prstGeom prst="roundRect">
            <a:avLst/>
          </a:prstGeom>
          <a:solidFill>
            <a:srgbClr val="F5F7FA"/>
          </a:solidFill>
          <a:ln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4206240"/>
            <a:ext cx="2560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E8734A"/>
                </a:solidFill>
                <a:latin typeface="Microsoft YaHei"/>
              </a:defRPr>
            </a:pPr>
            <a:r>
              <a:t>8节点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512064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666666"/>
                </a:solidFill>
                <a:latin typeface="Microsoft YaHei"/>
              </a:defRPr>
            </a:pPr>
            <a:r>
              <a:t>Agent编排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566160" y="3931920"/>
            <a:ext cx="2560320" cy="1828800"/>
          </a:xfrm>
          <a:prstGeom prst="roundRect">
            <a:avLst/>
          </a:prstGeom>
          <a:solidFill>
            <a:srgbClr val="F5F7FA"/>
          </a:solidFill>
          <a:ln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566160" y="4206240"/>
            <a:ext cx="2560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E8734A"/>
                </a:solidFill>
                <a:latin typeface="Microsoft YaHei"/>
              </a:defRPr>
            </a:pPr>
            <a:r>
              <a:t>四级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66160" y="512064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666666"/>
                </a:solidFill>
                <a:latin typeface="Microsoft YaHei"/>
              </a:defRPr>
            </a:pPr>
            <a:r>
              <a:t>红队判定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0" y="3931920"/>
            <a:ext cx="2560320" cy="1828800"/>
          </a:xfrm>
          <a:prstGeom prst="roundRect">
            <a:avLst/>
          </a:prstGeom>
          <a:solidFill>
            <a:srgbClr val="F5F7FA"/>
          </a:solidFill>
          <a:ln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0" y="4206240"/>
            <a:ext cx="2560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E8734A"/>
                </a:solidFill>
                <a:latin typeface="Microsoft YaHei"/>
              </a:defRPr>
            </a:pPr>
            <a:r>
              <a:t>17项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0" y="512064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666666"/>
                </a:solidFill>
                <a:latin typeface="Microsoft YaHei"/>
              </a:defRPr>
            </a:pPr>
            <a:r>
              <a:t>大屏功能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235440" y="3931920"/>
            <a:ext cx="2560320" cy="1828800"/>
          </a:xfrm>
          <a:prstGeom prst="roundRect">
            <a:avLst/>
          </a:prstGeom>
          <a:solidFill>
            <a:srgbClr val="F5F7FA"/>
          </a:solidFill>
          <a:ln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235440" y="4206240"/>
            <a:ext cx="2560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E8734A"/>
                </a:solidFill>
                <a:latin typeface="Microsoft YaHei"/>
              </a:defRPr>
            </a:pPr>
            <a:r>
              <a:t>17+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235440" y="512064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666666"/>
                </a:solidFill>
                <a:latin typeface="Microsoft YaHei"/>
              </a:defRPr>
            </a:pPr>
            <a:r>
              <a:t>开源仓库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1F4E79"/>
                </a:solidFill>
                <a:latin typeface="Microsoft YaHei"/>
              </a:defRPr>
            </a:pPr>
            <a:r>
              <a:t>成长时间线</a:t>
            </a:r>
          </a:p>
        </p:txBody>
      </p:sp>
      <p:sp>
        <p:nvSpPr>
          <p:cNvPr id="3" name="Oval 2"/>
          <p:cNvSpPr/>
          <p:nvPr/>
        </p:nvSpPr>
        <p:spPr>
          <a:xfrm>
            <a:off x="822960" y="2286000"/>
            <a:ext cx="274320" cy="274320"/>
          </a:xfrm>
          <a:prstGeom prst="ellipse">
            <a:avLst/>
          </a:prstGeom>
          <a:solidFill>
            <a:srgbClr val="E87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97280" y="2395728"/>
            <a:ext cx="914400" cy="54864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645920"/>
            <a:ext cx="1188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1F4E79"/>
                </a:solidFill>
                <a:latin typeface="Microsoft YaHei"/>
              </a:defRPr>
            </a:pPr>
            <a:r>
              <a:t>前端筑基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743200"/>
            <a:ext cx="1188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666666"/>
                </a:solidFill>
                <a:latin typeface="Microsoft YaHei"/>
              </a:defRPr>
            </a:pPr>
            <a:r>
              <a:t>Vue2积分商城</a:t>
            </a:r>
          </a:p>
        </p:txBody>
      </p:sp>
      <p:sp>
        <p:nvSpPr>
          <p:cNvPr id="7" name="Oval 6"/>
          <p:cNvSpPr/>
          <p:nvPr/>
        </p:nvSpPr>
        <p:spPr>
          <a:xfrm>
            <a:off x="2057400" y="2286000"/>
            <a:ext cx="274320" cy="274320"/>
          </a:xfrm>
          <a:prstGeom prst="ellipse">
            <a:avLst/>
          </a:prstGeom>
          <a:solidFill>
            <a:srgbClr val="E87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331720" y="2395728"/>
            <a:ext cx="914400" cy="54864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691640" y="1645920"/>
            <a:ext cx="1188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1F4E79"/>
                </a:solidFill>
                <a:latin typeface="Microsoft YaHei"/>
              </a:defRPr>
            </a:pPr>
            <a:r>
              <a:t>全栈&amp;初触AI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2743200"/>
            <a:ext cx="1188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666666"/>
                </a:solidFill>
                <a:latin typeface="Microsoft YaHei"/>
              </a:defRPr>
            </a:pPr>
            <a:r>
              <a:t>Vue3全栈应用</a:t>
            </a:r>
          </a:p>
        </p:txBody>
      </p:sp>
      <p:sp>
        <p:nvSpPr>
          <p:cNvPr id="11" name="Oval 10"/>
          <p:cNvSpPr/>
          <p:nvPr/>
        </p:nvSpPr>
        <p:spPr>
          <a:xfrm>
            <a:off x="3291840" y="2286000"/>
            <a:ext cx="274320" cy="274320"/>
          </a:xfrm>
          <a:prstGeom prst="ellipse">
            <a:avLst/>
          </a:prstGeom>
          <a:solidFill>
            <a:srgbClr val="E87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566160" y="2395728"/>
            <a:ext cx="914400" cy="54864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926080" y="1645920"/>
            <a:ext cx="1188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1F4E79"/>
                </a:solidFill>
                <a:latin typeface="Microsoft YaHei"/>
              </a:defRPr>
            </a:pPr>
            <a:r>
              <a:t>机器学习建模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26080" y="2743200"/>
            <a:ext cx="1188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666666"/>
                </a:solidFill>
                <a:latin typeface="Microsoft YaHei"/>
              </a:defRPr>
            </a:pPr>
            <a:r>
              <a:t>智火卫渝</a:t>
            </a:r>
          </a:p>
        </p:txBody>
      </p:sp>
      <p:sp>
        <p:nvSpPr>
          <p:cNvPr id="15" name="Oval 14"/>
          <p:cNvSpPr/>
          <p:nvPr/>
        </p:nvSpPr>
        <p:spPr>
          <a:xfrm>
            <a:off x="4526280" y="2286000"/>
            <a:ext cx="274320" cy="274320"/>
          </a:xfrm>
          <a:prstGeom prst="ellipse">
            <a:avLst/>
          </a:prstGeom>
          <a:solidFill>
            <a:srgbClr val="E87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800600" y="2395728"/>
            <a:ext cx="914400" cy="54864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160520" y="1645920"/>
            <a:ext cx="1188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1F4E79"/>
                </a:solidFill>
                <a:latin typeface="Microsoft YaHei"/>
              </a:defRPr>
            </a:pPr>
            <a:r>
              <a:t>时间序列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60520" y="2743200"/>
            <a:ext cx="1188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666666"/>
                </a:solidFill>
                <a:latin typeface="Microsoft YaHei"/>
              </a:defRPr>
            </a:pPr>
            <a:r>
              <a:t>Informer复现</a:t>
            </a:r>
          </a:p>
        </p:txBody>
      </p:sp>
      <p:sp>
        <p:nvSpPr>
          <p:cNvPr id="19" name="Oval 18"/>
          <p:cNvSpPr/>
          <p:nvPr/>
        </p:nvSpPr>
        <p:spPr>
          <a:xfrm>
            <a:off x="5760720" y="2286000"/>
            <a:ext cx="274320" cy="274320"/>
          </a:xfrm>
          <a:prstGeom prst="ellipse">
            <a:avLst/>
          </a:prstGeom>
          <a:solidFill>
            <a:srgbClr val="E87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035040" y="2395728"/>
            <a:ext cx="914400" cy="54864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394960" y="1645920"/>
            <a:ext cx="1188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1F4E79"/>
                </a:solidFill>
                <a:latin typeface="Microsoft YaHei"/>
              </a:defRPr>
            </a:pPr>
            <a:r>
              <a:t>推荐算法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94960" y="2743200"/>
            <a:ext cx="1188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666666"/>
                </a:solidFill>
                <a:latin typeface="Microsoft YaHei"/>
              </a:defRPr>
            </a:pPr>
            <a:r>
              <a:t>UserCF/ItemCF</a:t>
            </a:r>
          </a:p>
        </p:txBody>
      </p:sp>
      <p:sp>
        <p:nvSpPr>
          <p:cNvPr id="23" name="Oval 22"/>
          <p:cNvSpPr/>
          <p:nvPr/>
        </p:nvSpPr>
        <p:spPr>
          <a:xfrm>
            <a:off x="6995160" y="2286000"/>
            <a:ext cx="274320" cy="274320"/>
          </a:xfrm>
          <a:prstGeom prst="ellipse">
            <a:avLst/>
          </a:prstGeom>
          <a:solidFill>
            <a:srgbClr val="E87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269480" y="2395728"/>
            <a:ext cx="914400" cy="54864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629400" y="1645920"/>
            <a:ext cx="1188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1F4E79"/>
                </a:solidFill>
                <a:latin typeface="Microsoft YaHei"/>
              </a:defRPr>
            </a:pPr>
            <a:r>
              <a:t>毕业设计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29400" y="2743200"/>
            <a:ext cx="1188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666666"/>
                </a:solidFill>
                <a:latin typeface="Microsoft YaHei"/>
              </a:defRPr>
            </a:pPr>
            <a:r>
              <a:t>云南大屏</a:t>
            </a:r>
          </a:p>
        </p:txBody>
      </p:sp>
      <p:sp>
        <p:nvSpPr>
          <p:cNvPr id="27" name="Oval 26"/>
          <p:cNvSpPr/>
          <p:nvPr/>
        </p:nvSpPr>
        <p:spPr>
          <a:xfrm>
            <a:off x="8229600" y="2286000"/>
            <a:ext cx="274320" cy="274320"/>
          </a:xfrm>
          <a:prstGeom prst="ellipse">
            <a:avLst/>
          </a:prstGeom>
          <a:solidFill>
            <a:srgbClr val="E87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503920" y="2395728"/>
            <a:ext cx="914400" cy="54864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863840" y="1645920"/>
            <a:ext cx="1188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1F4E79"/>
                </a:solidFill>
                <a:latin typeface="Microsoft YaHei"/>
              </a:defRPr>
            </a:pPr>
            <a:r>
              <a:t>AI Agent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863840" y="2743200"/>
            <a:ext cx="1188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666666"/>
                </a:solidFill>
                <a:latin typeface="Microsoft YaHei"/>
              </a:defRPr>
            </a:pPr>
            <a:r>
              <a:t>焘哨系统</a:t>
            </a:r>
          </a:p>
        </p:txBody>
      </p:sp>
      <p:sp>
        <p:nvSpPr>
          <p:cNvPr id="31" name="Oval 30"/>
          <p:cNvSpPr/>
          <p:nvPr/>
        </p:nvSpPr>
        <p:spPr>
          <a:xfrm>
            <a:off x="9464040" y="2286000"/>
            <a:ext cx="274320" cy="274320"/>
          </a:xfrm>
          <a:prstGeom prst="ellipse">
            <a:avLst/>
          </a:prstGeom>
          <a:solidFill>
            <a:srgbClr val="E87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738360" y="2395728"/>
            <a:ext cx="914400" cy="54864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098280" y="1645920"/>
            <a:ext cx="1188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1F4E79"/>
                </a:solidFill>
                <a:latin typeface="Microsoft YaHei"/>
              </a:defRPr>
            </a:pPr>
            <a:r>
              <a:t>Agent安全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098280" y="2743200"/>
            <a:ext cx="1188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666666"/>
                </a:solidFill>
                <a:latin typeface="Microsoft YaHei"/>
              </a:defRPr>
            </a:pPr>
            <a:r>
              <a:t>红队平台</a:t>
            </a:r>
          </a:p>
        </p:txBody>
      </p:sp>
      <p:sp>
        <p:nvSpPr>
          <p:cNvPr id="35" name="Oval 34"/>
          <p:cNvSpPr/>
          <p:nvPr/>
        </p:nvSpPr>
        <p:spPr>
          <a:xfrm>
            <a:off x="10698480" y="2286000"/>
            <a:ext cx="274320" cy="274320"/>
          </a:xfrm>
          <a:prstGeom prst="ellipse">
            <a:avLst/>
          </a:prstGeom>
          <a:solidFill>
            <a:srgbClr val="E87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332720" y="1645920"/>
            <a:ext cx="1188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1F4E79"/>
                </a:solidFill>
                <a:latin typeface="Microsoft YaHei"/>
              </a:defRPr>
            </a:pPr>
            <a:r>
              <a:t>开源沉淀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332720" y="2743200"/>
            <a:ext cx="1188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666666"/>
                </a:solidFill>
                <a:latin typeface="Microsoft YaHei"/>
              </a:defRPr>
            </a:pPr>
            <a:r>
              <a:t>双技能发布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E87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10332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1">
                <a:solidFill>
                  <a:srgbClr val="1F4E79"/>
                </a:solidFill>
                <a:latin typeface="Microsoft YaHei"/>
              </a:defRPr>
            </a:pPr>
            <a:r>
              <a:t>既会做系统，也会把方法沉淀为可复用的工程资产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840480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2E75B6"/>
                </a:solidFill>
                <a:latin typeface="Microsoft YaHei"/>
              </a:defRPr>
            </a:pPr>
            <a:r>
              <a:t>Haute GSAP Skills · Universal PPT — MIT开源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02920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666666"/>
                </a:solidFill>
                <a:latin typeface="Microsoft YaHei"/>
              </a:defRPr>
            </a:pPr>
            <a:r>
              <a:t>GitHub / Gitee: @WJLGraph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
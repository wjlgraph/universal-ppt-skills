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大家好，我是 WJL。我的方向三条线：AI Agent 工程、数据可视化、全栈开发。所有代码都在 GitHub 和 Gitee 的 WJLGraph 账号下，17 个以上公开仓库，每个数据都真实可查，欢迎随时验证。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先给我的定位一句话：把「看数据」升级为「由系统替你研判数据」，并亲手为它打造红队防线。左边是大屏，中间是 Agent，右边是安全。用三个数字快速建立印象：17 个以上开源仓库、8 个以上完整项目、五大技术方向。接下来按成长路径展开。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成长路径四段：1 月从 Vue2 商城和微信小程序起步，5 天交付全链路；随后进入机器学习与时间序列，做火点预测与 Informer 复现；毕业设计落成云南省火险监测大屏，17 项功能；最近三个月升级到多 Agent 与安全，方法开源沉淀。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能力分六组：前端 Vue2/3、ECharts、GSAP；后端 FastAPI、PostgreSQL；AI 工程：LangGraph、RAG、MCP；安全：提示注入与蜜罐；算法：LSTM、Informer、协同过滤；工程美学主打零依赖。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焰哨用 LangGraph 编排 8 节点：任务解析后双路并行扇出，join 汇聚生成报告，评审循环与 HITL 审批门收尾；SSE 推送节点级进度，PostgresSaver 检查点让中断可恢复；输出不稳定时评审循环加失败模板双重降级。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Gauntlet 是焰哨的红队平台：针对最隐蔽的间接注入实现工具返回夹带注入器；canary 标记加四级判定把安全水位量化成 defense_score，可逐轮回归；混沌故障注入度量恢复率，与焰哨 chaos hook 联动成闭环。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毕业设计三部曲：第一步智火卫渝建模，KNN 火点预测 R² 0.971、NDVI 0.801，合成五分项火险指数；第二步云南省火险大屏，OpenLayers 加高德底图 17 项功能；第三步焰哨把看数据升级为研判数据。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我把方法沉淀为开源资产：博客是高端前端工作流参考实现，GSAP 滚动叙事、手写正则高亮、零第三方依赖；Haute 提炼 GSAP 官方技能四路分发；Universal PPT 提炼 17 个技能建成六场景八路径，均 MIT 开源。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数据速查：火点预测 R² 0.971、NDVI 0.801；协同过滤 P@K 0.96 / 0.99；Informer 早停 0.77 对 0.45；焰哨编排 8 节点；Universal PPT：17 技能 → 六场景八路径，全部可溯源。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最后一句话收束：我既会做系统——从预测模型、可视化大屏到多 Agent 平台和红队防线；也会把方法沉淀为可复用的工程资产——两个 MIT 开源技能就是证明。以上就是我的介绍，所有项目都在 WJLGraph 下，欢迎交流与合作。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.jpg"/>
          <p:cNvPicPr>
            <a:picLocks noChangeAspect="1"/>
          </p:cNvPicPr>
          <p:nvPr/>
        </p:nvPicPr>
        <p:blipFill>
          <a:blip r:embed="rId2"/>
          <a:srcRect l="7300" r="7300"/>
          <a:stretch>
            <a:fillRect/>
          </a:stretch>
        </p:blipFill>
        <p:spPr>
          <a:xfrm>
            <a:off x="7799831" y="0"/>
            <a:ext cx="4389120" cy="6858000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822960" y="1417320"/>
            <a:ext cx="6217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spc="300">
                <a:solidFill>
                  <a:srgbClr val="00A9FF"/>
                </a:solidFill>
                <a:latin typeface="Consolas"/>
                <a:ea typeface="微软雅黑"/>
              </a:rPr>
              <a:t>SELF INTRODUCTION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62179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200" b="1" spc="400">
                <a:solidFill>
                  <a:srgbClr val="F5F5F7"/>
                </a:solidFill>
                <a:latin typeface="Consolas"/>
                <a:ea typeface="微软雅黑"/>
              </a:rPr>
              <a:t>WJL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93008"/>
            <a:ext cx="6583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F5F5F7"/>
                </a:solidFill>
                <a:latin typeface="微软雅黑"/>
                <a:ea typeface="微软雅黑"/>
              </a:rPr>
              <a:t>把「看数据」升级为</a:t>
            </a:r>
            <a:r>
              <a:rPr sz="2200" b="1">
                <a:solidFill>
                  <a:srgbClr val="00A9FF"/>
                </a:solidFill>
                <a:latin typeface="微软雅黑"/>
                <a:ea typeface="微软雅黑"/>
              </a:rPr>
              <a:t>「由系统替你研判数据」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69080"/>
            <a:ext cx="658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8E8E93"/>
                </a:solidFill>
                <a:latin typeface="微软雅黑"/>
                <a:ea typeface="微软雅黑"/>
              </a:rPr>
              <a:t>AI Agent 工程 · 数据可视化 · 全栈开发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846320"/>
            <a:ext cx="1391920" cy="384048"/>
          </a:xfrm>
          <a:prstGeom prst="roundRect">
            <a:avLst>
              <a:gd name="adj" fmla="val 50000"/>
            </a:avLst>
          </a:prstGeom>
          <a:solidFill>
            <a:srgbClr val="141416"/>
          </a:solidFill>
          <a:ln w="9525">
            <a:solidFill>
              <a:srgbClr val="2A2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846320"/>
            <a:ext cx="1391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>
                <a:solidFill>
                  <a:srgbClr val="00A9FF"/>
                </a:solidFill>
                <a:latin typeface="微软雅黑"/>
                <a:ea typeface="微软雅黑"/>
              </a:rPr>
              <a:t>17+ 开源仓库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9472" y="4846320"/>
            <a:ext cx="1307211" cy="384048"/>
          </a:xfrm>
          <a:prstGeom prst="roundRect">
            <a:avLst>
              <a:gd name="adj" fmla="val 50000"/>
            </a:avLst>
          </a:prstGeom>
          <a:solidFill>
            <a:srgbClr val="141416"/>
          </a:solidFill>
          <a:ln w="9525">
            <a:solidFill>
              <a:srgbClr val="2A2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9472" y="4846320"/>
            <a:ext cx="13072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>
                <a:solidFill>
                  <a:srgbClr val="00A9FF"/>
                </a:solidFill>
                <a:latin typeface="微软雅黑"/>
                <a:ea typeface="微软雅黑"/>
              </a:rPr>
              <a:t>8+ 完整项目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51275" y="4846320"/>
            <a:ext cx="1371473" cy="384048"/>
          </a:xfrm>
          <a:prstGeom prst="roundRect">
            <a:avLst>
              <a:gd name="adj" fmla="val 50000"/>
            </a:avLst>
          </a:prstGeom>
          <a:solidFill>
            <a:srgbClr val="141416"/>
          </a:solidFill>
          <a:ln w="9525">
            <a:solidFill>
              <a:srgbClr val="2A2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51275" y="4846320"/>
            <a:ext cx="137147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>
                <a:solidFill>
                  <a:srgbClr val="00A9FF"/>
                </a:solidFill>
                <a:latin typeface="微软雅黑"/>
                <a:ea typeface="微软雅黑"/>
              </a:rPr>
              <a:t>5 大技术方向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0350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8E8E93"/>
                </a:solidFill>
                <a:latin typeface="微软雅黑"/>
                <a:ea typeface="微软雅黑"/>
              </a:rPr>
              <a:t>GitHub / Gitee · WJLGraph · 全部数据真实可查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spc="200">
                <a:solidFill>
                  <a:srgbClr val="00A9FF"/>
                </a:solidFill>
                <a:latin typeface="Consolas"/>
                <a:ea typeface="微软雅黑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F5F5F7"/>
                </a:solidFill>
                <a:latin typeface="微软雅黑"/>
                <a:ea typeface="微软雅黑"/>
              </a:rPr>
              <a:t>定位：让系统替人研判数据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25296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8E8E93"/>
                </a:solidFill>
                <a:latin typeface="微软雅黑"/>
                <a:ea typeface="微软雅黑"/>
              </a:rPr>
              <a:t>一句话定位 · 三个数字建立印象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91056"/>
            <a:ext cx="11091672" cy="12801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F5F5F7"/>
                </a:solidFill>
                <a:latin typeface="微软雅黑"/>
                <a:ea typeface="微软雅黑"/>
              </a:rPr>
              <a:t>大屏可视化 </a:t>
            </a:r>
            <a:r>
              <a:rPr sz="2100" b="1">
                <a:solidFill>
                  <a:srgbClr val="00A9FF"/>
                </a:solidFill>
                <a:latin typeface="微软雅黑"/>
                <a:ea typeface="微软雅黑"/>
              </a:rPr>
              <a:t>× </a:t>
            </a:r>
            <a:r>
              <a:rPr sz="2100" b="1">
                <a:solidFill>
                  <a:srgbClr val="F5F5F7"/>
                </a:solidFill>
                <a:latin typeface="微软雅黑"/>
                <a:ea typeface="微软雅黑"/>
              </a:rPr>
              <a:t>AI Agent 工程 </a:t>
            </a:r>
            <a:r>
              <a:rPr sz="2100" b="1">
                <a:solidFill>
                  <a:srgbClr val="00A9FF"/>
                </a:solidFill>
                <a:latin typeface="微软雅黑"/>
                <a:ea typeface="微软雅黑"/>
              </a:rPr>
              <a:t>× </a:t>
            </a:r>
            <a:r>
              <a:rPr sz="2100" b="1">
                <a:solidFill>
                  <a:srgbClr val="F5F5F7"/>
                </a:solidFill>
                <a:latin typeface="微软雅黑"/>
                <a:ea typeface="微软雅黑"/>
              </a:rPr>
              <a:t>Agent 红队安全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42032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8E8E93"/>
                </a:solidFill>
                <a:latin typeface="微软雅黑"/>
                <a:ea typeface="微软雅黑"/>
              </a:rPr>
              <a:t>三条线一个闭环：看得见数据，研判得了风险，守得住系统。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3511296" cy="2468880"/>
          </a:xfrm>
          <a:prstGeom prst="rect">
            <a:avLst/>
          </a:prstGeom>
          <a:solidFill>
            <a:srgbClr val="141416"/>
          </a:solidFill>
          <a:ln w="9525">
            <a:solidFill>
              <a:srgbClr val="2A2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600" b="1">
                <a:solidFill>
                  <a:srgbClr val="00A9FF"/>
                </a:solidFill>
                <a:latin typeface="Consolas"/>
                <a:ea typeface="微软雅黑"/>
              </a:rPr>
              <a:t>17+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4340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5F5F7"/>
                </a:solidFill>
                <a:latin typeface="微软雅黑"/>
                <a:ea typeface="微软雅黑"/>
              </a:rPr>
              <a:t>开源仓库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2880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E8E93"/>
                </a:solidFill>
                <a:latin typeface="微软雅黑"/>
                <a:ea typeface="微软雅黑"/>
              </a:rPr>
              <a:t>GitHub · Gitee：WJLGraph 账号下全部公开、可查、可复现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8827" y="3200400"/>
            <a:ext cx="3511296" cy="2468880"/>
          </a:xfrm>
          <a:prstGeom prst="rect">
            <a:avLst/>
          </a:prstGeom>
          <a:solidFill>
            <a:srgbClr val="141416"/>
          </a:solidFill>
          <a:ln w="9525">
            <a:solidFill>
              <a:srgbClr val="2A2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4588" y="3474720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600" b="1">
                <a:solidFill>
                  <a:srgbClr val="00A9FF"/>
                </a:solidFill>
                <a:latin typeface="Consolas"/>
                <a:ea typeface="微软雅黑"/>
              </a:rPr>
              <a:t>8+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4588" y="434340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5F5F7"/>
                </a:solidFill>
                <a:latin typeface="微软雅黑"/>
                <a:ea typeface="微软雅黑"/>
              </a:rPr>
              <a:t>完整项目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4588" y="4754880"/>
            <a:ext cx="2880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E8E93"/>
                </a:solidFill>
                <a:latin typeface="微软雅黑"/>
                <a:ea typeface="微软雅黑"/>
              </a:rPr>
              <a:t>从机器学习建模、可视化大屏到多 Agent 平台的全链路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9015" y="3200400"/>
            <a:ext cx="3511296" cy="2468880"/>
          </a:xfrm>
          <a:prstGeom prst="rect">
            <a:avLst/>
          </a:prstGeom>
          <a:solidFill>
            <a:srgbClr val="141416"/>
          </a:solidFill>
          <a:ln w="9525">
            <a:solidFill>
              <a:srgbClr val="2A2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94776" y="3474720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600" b="1">
                <a:solidFill>
                  <a:srgbClr val="00A9FF"/>
                </a:solidFill>
                <a:latin typeface="Consolas"/>
                <a:ea typeface="微软雅黑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4776" y="434340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5F5F7"/>
                </a:solidFill>
                <a:latin typeface="微软雅黑"/>
                <a:ea typeface="微软雅黑"/>
              </a:rPr>
              <a:t>大技术方向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94776" y="4754880"/>
            <a:ext cx="2880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E8E93"/>
                </a:solidFill>
                <a:latin typeface="微软雅黑"/>
                <a:ea typeface="微软雅黑"/>
              </a:rPr>
              <a:t>前端 · 后端 · AI 工程 · Agent 安全 · 算法建模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spc="200">
                <a:solidFill>
                  <a:srgbClr val="00A9FF"/>
                </a:solidFill>
                <a:latin typeface="Consolas"/>
                <a:ea typeface="微软雅黑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F5F5F7"/>
                </a:solidFill>
                <a:latin typeface="微软雅黑"/>
                <a:ea typeface="微软雅黑"/>
              </a:rPr>
              <a:t>成长路径：从工程思维到 Agent 安全的四段进阶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25296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8E8E93"/>
                </a:solidFill>
                <a:latin typeface="微软雅黑"/>
                <a:ea typeface="微软雅黑"/>
              </a:rPr>
              <a:t>每一段都对应可查的仓库与项目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91056"/>
            <a:ext cx="11091672" cy="12801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395728"/>
            <a:ext cx="10424160" cy="12801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92224" y="2324404"/>
            <a:ext cx="155448" cy="155448"/>
          </a:xfrm>
          <a:prstGeom prst="ellipse">
            <a:avLst/>
          </a:prstGeom>
          <a:solidFill>
            <a:srgbClr val="00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2642616" cy="3154680"/>
          </a:xfrm>
          <a:prstGeom prst="rect">
            <a:avLst/>
          </a:prstGeom>
          <a:solidFill>
            <a:srgbClr val="141416"/>
          </a:solidFill>
          <a:ln w="9525">
            <a:solidFill>
              <a:srgbClr val="2A2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999232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00A9FF"/>
                </a:solidFill>
                <a:latin typeface="Consolas"/>
                <a:ea typeface="微软雅黑"/>
              </a:rPr>
              <a:t>2026.01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310128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F5F5F7"/>
                </a:solidFill>
                <a:latin typeface="微软雅黑"/>
                <a:ea typeface="微软雅黑"/>
              </a:rPr>
              <a:t>工程起步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767328"/>
            <a:ext cx="21488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8E8E93"/>
                </a:solidFill>
                <a:latin typeface="微软雅黑"/>
                <a:ea typeface="微软雅黑"/>
              </a:rPr>
              <a:t>Vue2 商城 + 微信小程序，5 天交付全链路，建立工程化思维</a:t>
            </a:r>
          </a:p>
        </p:txBody>
      </p:sp>
      <p:sp>
        <p:nvSpPr>
          <p:cNvPr id="13" name="Oval 12"/>
          <p:cNvSpPr/>
          <p:nvPr/>
        </p:nvSpPr>
        <p:spPr>
          <a:xfrm>
            <a:off x="4608576" y="2324404"/>
            <a:ext cx="155448" cy="155448"/>
          </a:xfrm>
          <a:prstGeom prst="ellipse">
            <a:avLst/>
          </a:prstGeom>
          <a:solidFill>
            <a:srgbClr val="00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64992" y="2743200"/>
            <a:ext cx="2642616" cy="3154680"/>
          </a:xfrm>
          <a:prstGeom prst="rect">
            <a:avLst/>
          </a:prstGeom>
          <a:solidFill>
            <a:srgbClr val="141416"/>
          </a:solidFill>
          <a:ln w="9525">
            <a:solidFill>
              <a:srgbClr val="2A2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2999232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00A9FF"/>
                </a:solidFill>
                <a:latin typeface="Consolas"/>
                <a:ea typeface="微软雅黑"/>
              </a:rPr>
              <a:t>2026.03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3310128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F5F5F7"/>
                </a:solidFill>
                <a:latin typeface="微软雅黑"/>
                <a:ea typeface="微软雅黑"/>
              </a:rPr>
              <a:t>建模与序列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4" y="3767328"/>
            <a:ext cx="21488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8E8E93"/>
                </a:solidFill>
                <a:latin typeface="微软雅黑"/>
                <a:ea typeface="微软雅黑"/>
              </a:rPr>
              <a:t>火点预测 KNN · Informer 复现 · 协同过滤推荐</a:t>
            </a:r>
          </a:p>
        </p:txBody>
      </p:sp>
      <p:sp>
        <p:nvSpPr>
          <p:cNvPr id="18" name="Oval 17"/>
          <p:cNvSpPr/>
          <p:nvPr/>
        </p:nvSpPr>
        <p:spPr>
          <a:xfrm>
            <a:off x="7424927" y="2324404"/>
            <a:ext cx="155448" cy="155448"/>
          </a:xfrm>
          <a:prstGeom prst="ellipse">
            <a:avLst/>
          </a:prstGeom>
          <a:solidFill>
            <a:srgbClr val="00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344" y="2743200"/>
            <a:ext cx="2642616" cy="3154680"/>
          </a:xfrm>
          <a:prstGeom prst="rect">
            <a:avLst/>
          </a:prstGeom>
          <a:solidFill>
            <a:srgbClr val="141416"/>
          </a:solidFill>
          <a:ln w="9525">
            <a:solidFill>
              <a:srgbClr val="2A2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2999232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00A9FF"/>
                </a:solidFill>
                <a:latin typeface="Consolas"/>
                <a:ea typeface="微软雅黑"/>
              </a:rPr>
              <a:t>2026.05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3310128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F5F5F7"/>
                </a:solidFill>
                <a:latin typeface="微软雅黑"/>
                <a:ea typeface="微软雅黑"/>
              </a:rPr>
              <a:t>毕业设计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3767328"/>
            <a:ext cx="21488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8E8E93"/>
                </a:solidFill>
                <a:latin typeface="微软雅黑"/>
                <a:ea typeface="微软雅黑"/>
              </a:rPr>
              <a:t>云南省火险监测大屏：OpenLayers + 17 项功能</a:t>
            </a:r>
          </a:p>
        </p:txBody>
      </p:sp>
      <p:sp>
        <p:nvSpPr>
          <p:cNvPr id="23" name="Oval 22"/>
          <p:cNvSpPr/>
          <p:nvPr/>
        </p:nvSpPr>
        <p:spPr>
          <a:xfrm>
            <a:off x="10241280" y="2324404"/>
            <a:ext cx="155448" cy="155448"/>
          </a:xfrm>
          <a:prstGeom prst="ellipse">
            <a:avLst/>
          </a:prstGeom>
          <a:solidFill>
            <a:srgbClr val="00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97696" y="2743200"/>
            <a:ext cx="2642616" cy="3154680"/>
          </a:xfrm>
          <a:prstGeom prst="rect">
            <a:avLst/>
          </a:prstGeom>
          <a:solidFill>
            <a:srgbClr val="141416"/>
          </a:solidFill>
          <a:ln w="9525">
            <a:solidFill>
              <a:srgbClr val="2A2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53728" y="2999232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00A9FF"/>
                </a:solidFill>
                <a:latin typeface="Consolas"/>
                <a:ea typeface="微软雅黑"/>
              </a:rPr>
              <a:t>2026.08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3310128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F5F5F7"/>
                </a:solidFill>
                <a:latin typeface="微软雅黑"/>
                <a:ea typeface="微软雅黑"/>
              </a:rPr>
              <a:t>Agent 与安全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728" y="3767328"/>
            <a:ext cx="21488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8E8E93"/>
                </a:solidFill>
                <a:latin typeface="微软雅黑"/>
                <a:ea typeface="微软雅黑"/>
              </a:rPr>
              <a:t>焰哨多 Agent 平台 + Gauntlet 红队，方法开源沉淀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spc="200">
                <a:solidFill>
                  <a:srgbClr val="00A9FF"/>
                </a:solidFill>
                <a:latin typeface="Consolas"/>
                <a:ea typeface="微软雅黑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F5F5F7"/>
                </a:solidFill>
                <a:latin typeface="微软雅黑"/>
                <a:ea typeface="微软雅黑"/>
              </a:rPr>
              <a:t>能力全景：六组技能全部在项目中真实落地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25296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8E8E93"/>
                </a:solidFill>
                <a:latin typeface="微软雅黑"/>
                <a:ea typeface="微软雅黑"/>
              </a:rPr>
              <a:t>不做纸面罗列，每条都有仓库佐证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91056"/>
            <a:ext cx="11091672" cy="12801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3511296" cy="1874519"/>
          </a:xfrm>
          <a:prstGeom prst="rect">
            <a:avLst/>
          </a:prstGeom>
          <a:solidFill>
            <a:srgbClr val="141416"/>
          </a:solidFill>
          <a:ln w="9525">
            <a:solidFill>
              <a:srgbClr val="2A2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304288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1">
                <a:solidFill>
                  <a:srgbClr val="00A9FF"/>
                </a:solidFill>
                <a:latin typeface="微软雅黑"/>
                <a:ea typeface="微软雅黑"/>
              </a:rPr>
              <a:t>前端工程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788920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8E8E93"/>
                </a:solidFill>
                <a:latin typeface="微软雅黑"/>
                <a:ea typeface="微软雅黑"/>
              </a:rPr>
              <a:t>Vue2/3 · ECharts · Three.js · GSAP 滚动叙事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8827" y="1920240"/>
            <a:ext cx="3511296" cy="1874519"/>
          </a:xfrm>
          <a:prstGeom prst="rect">
            <a:avLst/>
          </a:prstGeom>
          <a:solidFill>
            <a:srgbClr val="141416"/>
          </a:solidFill>
          <a:ln w="9525">
            <a:solidFill>
              <a:srgbClr val="2A2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3147" y="2304288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1">
                <a:solidFill>
                  <a:srgbClr val="00A9FF"/>
                </a:solidFill>
                <a:latin typeface="微软雅黑"/>
                <a:ea typeface="微软雅黑"/>
              </a:rPr>
              <a:t>后端服务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3147" y="2788920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8E8E93"/>
                </a:solidFill>
                <a:latin typeface="微软雅黑"/>
                <a:ea typeface="微软雅黑"/>
              </a:rPr>
              <a:t>FastAPI · PostgreSQL · SSE 流式推送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9015" y="1920240"/>
            <a:ext cx="3511296" cy="1874519"/>
          </a:xfrm>
          <a:prstGeom prst="rect">
            <a:avLst/>
          </a:prstGeom>
          <a:solidFill>
            <a:srgbClr val="141416"/>
          </a:solidFill>
          <a:ln w="9525">
            <a:solidFill>
              <a:srgbClr val="2A2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03336" y="2304288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1">
                <a:solidFill>
                  <a:srgbClr val="00A9FF"/>
                </a:solidFill>
                <a:latin typeface="微软雅黑"/>
                <a:ea typeface="微软雅黑"/>
              </a:rPr>
              <a:t>AI 工程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3336" y="2788920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8E8E93"/>
                </a:solidFill>
                <a:latin typeface="微软雅黑"/>
                <a:ea typeface="微软雅黑"/>
              </a:rPr>
              <a:t>LangGraph 编排 · RAG · MCP 协议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14800"/>
            <a:ext cx="3511296" cy="1874519"/>
          </a:xfrm>
          <a:prstGeom prst="rect">
            <a:avLst/>
          </a:prstGeom>
          <a:solidFill>
            <a:srgbClr val="141416"/>
          </a:solidFill>
          <a:ln w="9525">
            <a:solidFill>
              <a:srgbClr val="2A2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4498848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1">
                <a:solidFill>
                  <a:srgbClr val="00A9FF"/>
                </a:solidFill>
                <a:latin typeface="微软雅黑"/>
                <a:ea typeface="微软雅黑"/>
              </a:rPr>
              <a:t>Agent 安全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983480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8E8E93"/>
                </a:solidFill>
                <a:latin typeface="微软雅黑"/>
                <a:ea typeface="微软雅黑"/>
              </a:rPr>
              <a:t>提示注入攻防 · 蜜罐 · canary 泄露追踪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8827" y="4114800"/>
            <a:ext cx="3511296" cy="1874519"/>
          </a:xfrm>
          <a:prstGeom prst="rect">
            <a:avLst/>
          </a:prstGeom>
          <a:solidFill>
            <a:srgbClr val="141416"/>
          </a:solidFill>
          <a:ln w="9525">
            <a:solidFill>
              <a:srgbClr val="2A2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3147" y="4498848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1">
                <a:solidFill>
                  <a:srgbClr val="00A9FF"/>
                </a:solidFill>
                <a:latin typeface="微软雅黑"/>
                <a:ea typeface="微软雅黑"/>
              </a:rPr>
              <a:t>算法建模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3147" y="4983480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8E8E93"/>
                </a:solidFill>
                <a:latin typeface="微软雅黑"/>
                <a:ea typeface="微软雅黑"/>
              </a:rPr>
              <a:t>KNN · LSTM · Informer · 协同过滤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29015" y="4114800"/>
            <a:ext cx="3511296" cy="1874519"/>
          </a:xfrm>
          <a:prstGeom prst="rect">
            <a:avLst/>
          </a:prstGeom>
          <a:solidFill>
            <a:srgbClr val="141416"/>
          </a:solidFill>
          <a:ln w="9525">
            <a:solidFill>
              <a:srgbClr val="2A2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03336" y="4498848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1">
                <a:solidFill>
                  <a:srgbClr val="00A9FF"/>
                </a:solidFill>
                <a:latin typeface="微软雅黑"/>
                <a:ea typeface="微软雅黑"/>
              </a:rPr>
              <a:t>工程美学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3336" y="4983480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8E8E93"/>
                </a:solidFill>
                <a:latin typeface="微软雅黑"/>
                <a:ea typeface="微软雅黑"/>
              </a:rPr>
              <a:t>零依赖实现 · 手写语法高亮 · 乱码收敛动效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spc="200">
                <a:solidFill>
                  <a:srgbClr val="00A9FF"/>
                </a:solidFill>
                <a:latin typeface="Consolas"/>
                <a:ea typeface="微软雅黑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F5F5F7"/>
                </a:solidFill>
                <a:latin typeface="微软雅黑"/>
                <a:ea typeface="微软雅黑"/>
              </a:rPr>
              <a:t>焰哨：8 节点编排让火险研判可观测、可恢复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25296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8E8E93"/>
                </a:solidFill>
                <a:latin typeface="微软雅黑"/>
                <a:ea typeface="微软雅黑"/>
              </a:rPr>
              <a:t>LangGraph 工作流 · SSE 推送 · 检查点 · 双重降级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91056"/>
            <a:ext cx="11091672" cy="12801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97583"/>
            <a:ext cx="82296" cy="82296"/>
          </a:xfrm>
          <a:prstGeom prst="rect">
            <a:avLst/>
          </a:prstGeom>
          <a:solidFill>
            <a:srgbClr val="00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20240"/>
            <a:ext cx="6126480" cy="6713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F5F5F7"/>
                </a:solidFill>
                <a:latin typeface="微软雅黑"/>
                <a:ea typeface="微软雅黑"/>
              </a:rPr>
              <a:t>8 节点 LangGraph 编排  </a:t>
            </a:r>
            <a:r>
              <a:rPr sz="1450" b="0">
                <a:solidFill>
                  <a:srgbClr val="8E8E93"/>
                </a:solidFill>
                <a:latin typeface="微软雅黑"/>
                <a:ea typeface="微软雅黑"/>
              </a:rPr>
              <a:t>任务解析 → 双路并行扇出 → join 汇聚 → 评审循环收尾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888361"/>
            <a:ext cx="82296" cy="82296"/>
          </a:xfrm>
          <a:prstGeom prst="rect">
            <a:avLst/>
          </a:prstGeom>
          <a:solidFill>
            <a:srgbClr val="00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811018"/>
            <a:ext cx="6126480" cy="395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F5F5F7"/>
                </a:solidFill>
                <a:latin typeface="微软雅黑"/>
                <a:ea typeface="微软雅黑"/>
              </a:rPr>
              <a:t>SSE 实时推送  </a:t>
            </a:r>
            <a:r>
              <a:rPr sz="1450" b="0">
                <a:solidFill>
                  <a:srgbClr val="8E8E93"/>
                </a:solidFill>
                <a:latin typeface="微软雅黑"/>
                <a:ea typeface="微软雅黑"/>
              </a:rPr>
              <a:t>节点级进度可观测，前端流式呈现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502914"/>
            <a:ext cx="82296" cy="82296"/>
          </a:xfrm>
          <a:prstGeom prst="rect">
            <a:avLst/>
          </a:prstGeom>
          <a:solidFill>
            <a:srgbClr val="00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425571"/>
            <a:ext cx="6126480" cy="395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F5F5F7"/>
                </a:solidFill>
                <a:latin typeface="微软雅黑"/>
                <a:ea typeface="微软雅黑"/>
              </a:rPr>
              <a:t>PostgresSaver 检查点  </a:t>
            </a:r>
            <a:r>
              <a:rPr sz="1450" b="0">
                <a:solidFill>
                  <a:srgbClr val="8E8E93"/>
                </a:solidFill>
                <a:latin typeface="微软雅黑"/>
                <a:ea typeface="微软雅黑"/>
              </a:rPr>
              <a:t>任意中断可恢复，状态可回放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117467"/>
            <a:ext cx="82296" cy="82296"/>
          </a:xfrm>
          <a:prstGeom prst="rect">
            <a:avLst/>
          </a:prstGeom>
          <a:solidFill>
            <a:srgbClr val="00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040123"/>
            <a:ext cx="6126480" cy="395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F5F5F7"/>
                </a:solidFill>
                <a:latin typeface="微软雅黑"/>
                <a:ea typeface="微软雅黑"/>
              </a:rPr>
              <a:t>双重降级  </a:t>
            </a:r>
            <a:r>
              <a:rPr sz="1450" b="0">
                <a:solidFill>
                  <a:srgbClr val="8E8E93"/>
                </a:solidFill>
                <a:latin typeface="微软雅黑"/>
                <a:ea typeface="微软雅黑"/>
              </a:rPr>
              <a:t>评审循环兜底 + 失败模板兜底，LLM 输出不稳定也不慌</a:t>
            </a:r>
          </a:p>
        </p:txBody>
      </p:sp>
      <p:pic>
        <p:nvPicPr>
          <p:cNvPr id="15" name="Picture 14" descr="fireagent.jpg"/>
          <p:cNvPicPr>
            <a:picLocks noChangeAspect="1"/>
          </p:cNvPicPr>
          <p:nvPr/>
        </p:nvPicPr>
        <p:blipFill>
          <a:blip r:embed="rId2"/>
          <a:srcRect t="12700" b="12700"/>
          <a:stretch>
            <a:fillRect/>
          </a:stretch>
        </p:blipFill>
        <p:spPr>
          <a:xfrm>
            <a:off x="7315200" y="1920240"/>
            <a:ext cx="3822191" cy="2139696"/>
          </a:xfrm>
          <a:prstGeom prst="rect">
            <a:avLst/>
          </a:prstGeom>
          <a:effectLst/>
        </p:spPr>
      </p:pic>
      <p:sp>
        <p:nvSpPr>
          <p:cNvPr id="16" name="Rectangle 15"/>
          <p:cNvSpPr/>
          <p:nvPr/>
        </p:nvSpPr>
        <p:spPr>
          <a:xfrm>
            <a:off x="7315200" y="4251960"/>
            <a:ext cx="3822191" cy="1417320"/>
          </a:xfrm>
          <a:prstGeom prst="rect">
            <a:avLst/>
          </a:prstGeom>
          <a:solidFill>
            <a:srgbClr val="141416"/>
          </a:solidFill>
          <a:ln w="9525">
            <a:solidFill>
              <a:srgbClr val="2A2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0" y="4498848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00A9FF"/>
                </a:solidFill>
                <a:latin typeface="微软雅黑"/>
                <a:ea typeface="微软雅黑"/>
              </a:rPr>
              <a:t>HITL 审批门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4864608"/>
            <a:ext cx="3337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8E8E93"/>
                </a:solidFill>
                <a:latin typeface="微软雅黑"/>
                <a:ea typeface="微软雅黑"/>
              </a:rPr>
              <a:t>关键结论人工把关，人机协同闭环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897880"/>
            <a:ext cx="1219581" cy="384048"/>
          </a:xfrm>
          <a:prstGeom prst="roundRect">
            <a:avLst>
              <a:gd name="adj" fmla="val 50000"/>
            </a:avLst>
          </a:prstGeom>
          <a:solidFill>
            <a:srgbClr val="141416"/>
          </a:solidFill>
          <a:ln w="9525">
            <a:solidFill>
              <a:srgbClr val="2A2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897880"/>
            <a:ext cx="121958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>
                <a:solidFill>
                  <a:srgbClr val="00A9FF"/>
                </a:solidFill>
                <a:latin typeface="微软雅黑"/>
                <a:ea typeface="微软雅黑"/>
              </a:rPr>
              <a:t>LangGraph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32813" y="5897880"/>
            <a:ext cx="711326" cy="384048"/>
          </a:xfrm>
          <a:prstGeom prst="roundRect">
            <a:avLst>
              <a:gd name="adj" fmla="val 50000"/>
            </a:avLst>
          </a:prstGeom>
          <a:solidFill>
            <a:srgbClr val="141416"/>
          </a:solidFill>
          <a:ln w="9525">
            <a:solidFill>
              <a:srgbClr val="2A2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32813" y="5897880"/>
            <a:ext cx="71132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>
                <a:solidFill>
                  <a:srgbClr val="00A9FF"/>
                </a:solidFill>
                <a:latin typeface="微软雅黑"/>
                <a:ea typeface="微软雅黑"/>
              </a:rPr>
              <a:t>SSE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08731" y="5897880"/>
            <a:ext cx="1304290" cy="384048"/>
          </a:xfrm>
          <a:prstGeom prst="roundRect">
            <a:avLst>
              <a:gd name="adj" fmla="val 50000"/>
            </a:avLst>
          </a:prstGeom>
          <a:solidFill>
            <a:srgbClr val="141416"/>
          </a:solidFill>
          <a:ln w="9525">
            <a:solidFill>
              <a:srgbClr val="2A2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08731" y="5897880"/>
            <a:ext cx="130429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>
                <a:solidFill>
                  <a:srgbClr val="00A9FF"/>
                </a:solidFill>
                <a:latin typeface="微软雅黑"/>
                <a:ea typeface="微软雅黑"/>
              </a:rPr>
              <a:t>PostgreSQL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77613" y="5897880"/>
            <a:ext cx="711326" cy="384048"/>
          </a:xfrm>
          <a:prstGeom prst="roundRect">
            <a:avLst>
              <a:gd name="adj" fmla="val 50000"/>
            </a:avLst>
          </a:prstGeom>
          <a:solidFill>
            <a:srgbClr val="141416"/>
          </a:solidFill>
          <a:ln w="9525">
            <a:solidFill>
              <a:srgbClr val="2A2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77613" y="5897880"/>
            <a:ext cx="71132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>
                <a:solidFill>
                  <a:srgbClr val="00A9FF"/>
                </a:solidFill>
                <a:latin typeface="微软雅黑"/>
                <a:ea typeface="微软雅黑"/>
              </a:rPr>
              <a:t>RAG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53533" y="5897880"/>
            <a:ext cx="711326" cy="384048"/>
          </a:xfrm>
          <a:prstGeom prst="roundRect">
            <a:avLst>
              <a:gd name="adj" fmla="val 50000"/>
            </a:avLst>
          </a:prstGeom>
          <a:solidFill>
            <a:srgbClr val="141416"/>
          </a:solidFill>
          <a:ln w="9525">
            <a:solidFill>
              <a:srgbClr val="2A2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53533" y="5897880"/>
            <a:ext cx="71132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>
                <a:solidFill>
                  <a:srgbClr val="00A9FF"/>
                </a:solidFill>
                <a:latin typeface="微软雅黑"/>
                <a:ea typeface="微软雅黑"/>
              </a:rPr>
              <a:t>MCP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spc="200">
                <a:solidFill>
                  <a:srgbClr val="00A9FF"/>
                </a:solidFill>
                <a:latin typeface="Consolas"/>
                <a:ea typeface="微软雅黑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F5F5F7"/>
                </a:solidFill>
                <a:latin typeface="微软雅黑"/>
                <a:ea typeface="微软雅黑"/>
              </a:rPr>
              <a:t>Gauntlet：把「安不安全」量化成可回归的分数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25296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8E8E93"/>
                </a:solidFill>
                <a:latin typeface="微软雅黑"/>
                <a:ea typeface="微软雅黑"/>
              </a:rPr>
              <a:t>间接注入 · canary 追踪 · defense_score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91056"/>
            <a:ext cx="11091672" cy="12801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97583"/>
            <a:ext cx="82296" cy="82296"/>
          </a:xfrm>
          <a:prstGeom prst="rect">
            <a:avLst/>
          </a:prstGeom>
          <a:solidFill>
            <a:srgbClr val="00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20240"/>
            <a:ext cx="7315200" cy="395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F5F5F7"/>
                </a:solidFill>
                <a:latin typeface="微软雅黑"/>
                <a:ea typeface="微软雅黑"/>
              </a:rPr>
              <a:t>工具返回夹带注入器  </a:t>
            </a:r>
            <a:r>
              <a:rPr sz="1450" b="0">
                <a:solidFill>
                  <a:srgbClr val="8E8E93"/>
                </a:solidFill>
                <a:latin typeface="微软雅黑"/>
                <a:ea typeface="微软雅黑"/>
              </a:rPr>
              <a:t>针对最隐蔽的间接提示注入：恶意指令藏在工具返回值里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630424"/>
            <a:ext cx="82296" cy="82296"/>
          </a:xfrm>
          <a:prstGeom prst="rect">
            <a:avLst/>
          </a:prstGeom>
          <a:solidFill>
            <a:srgbClr val="00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553081"/>
            <a:ext cx="7315200" cy="395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F5F5F7"/>
                </a:solidFill>
                <a:latin typeface="微软雅黑"/>
                <a:ea typeface="微软雅黑"/>
              </a:rPr>
              <a:t>canary 泄露标记  </a:t>
            </a:r>
            <a:r>
              <a:rPr sz="1450" b="0">
                <a:solidFill>
                  <a:srgbClr val="8E8E93"/>
                </a:solidFill>
                <a:latin typeface="微软雅黑"/>
                <a:ea typeface="微软雅黑"/>
              </a:rPr>
              <a:t>密标可追踪、可归因，逐轮回归不漂移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263264"/>
            <a:ext cx="82296" cy="82296"/>
          </a:xfrm>
          <a:prstGeom prst="rect">
            <a:avLst/>
          </a:prstGeom>
          <a:solidFill>
            <a:srgbClr val="00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185922"/>
            <a:ext cx="7315200" cy="395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F5F5F7"/>
                </a:solidFill>
                <a:latin typeface="微软雅黑"/>
                <a:ea typeface="微软雅黑"/>
              </a:rPr>
              <a:t>混沌故障注入  </a:t>
            </a:r>
            <a:r>
              <a:rPr sz="1450" b="0">
                <a:solidFill>
                  <a:srgbClr val="8E8E93"/>
                </a:solidFill>
                <a:latin typeface="微软雅黑"/>
                <a:ea typeface="微软雅黑"/>
              </a:rPr>
              <a:t>主动制造异常度量恢复率，与焰哨 chaos hook 联动成闭环</a:t>
            </a:r>
          </a:p>
        </p:txBody>
      </p:sp>
      <p:pic>
        <p:nvPicPr>
          <p:cNvPr id="13" name="Picture 12" descr="gauntle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03920" y="1874519"/>
            <a:ext cx="3108960" cy="2331720"/>
          </a:xfrm>
          <a:prstGeom prst="rect">
            <a:avLst/>
          </a:prstGeom>
          <a:effectLst/>
        </p:spPr>
      </p:pic>
      <p:sp>
        <p:nvSpPr>
          <p:cNvPr id="14" name="TextBox 13"/>
          <p:cNvSpPr txBox="1"/>
          <p:nvPr/>
        </p:nvSpPr>
        <p:spPr>
          <a:xfrm>
            <a:off x="548640" y="455371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8E8E93"/>
                </a:solidFill>
                <a:latin typeface="微软雅黑"/>
                <a:ea typeface="微软雅黑"/>
              </a:rPr>
              <a:t>判定流水线（四级：L1 拒绝 → L2 部分泄漏 → L3 全量泄露 → L4 主动执行）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919472"/>
            <a:ext cx="2487168" cy="777240"/>
          </a:xfrm>
          <a:prstGeom prst="rect">
            <a:avLst/>
          </a:prstGeom>
          <a:solidFill>
            <a:srgbClr val="141416"/>
          </a:solidFill>
          <a:ln w="9525">
            <a:solidFill>
              <a:srgbClr val="2A2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919472"/>
            <a:ext cx="2487168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>
                <a:solidFill>
                  <a:srgbClr val="F5F5F7"/>
                </a:solidFill>
                <a:latin typeface="微软雅黑"/>
                <a:ea typeface="微软雅黑"/>
              </a:rPr>
              <a:t>注入用例下发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4919472"/>
            <a:ext cx="384048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>
                <a:solidFill>
                  <a:srgbClr val="00A9FF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19856" y="4919472"/>
            <a:ext cx="2487168" cy="777240"/>
          </a:xfrm>
          <a:prstGeom prst="rect">
            <a:avLst/>
          </a:prstGeom>
          <a:solidFill>
            <a:srgbClr val="141416"/>
          </a:solidFill>
          <a:ln w="9525">
            <a:solidFill>
              <a:srgbClr val="2A2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19856" y="4919472"/>
            <a:ext cx="2487168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>
                <a:solidFill>
                  <a:srgbClr val="F5F5F7"/>
                </a:solidFill>
                <a:latin typeface="微软雅黑"/>
                <a:ea typeface="微软雅黑"/>
              </a:rPr>
              <a:t>工具返回夹带注入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7024" y="4919472"/>
            <a:ext cx="384048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>
                <a:solidFill>
                  <a:srgbClr val="00A9FF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91072" y="4919472"/>
            <a:ext cx="2487168" cy="777240"/>
          </a:xfrm>
          <a:prstGeom prst="rect">
            <a:avLst/>
          </a:prstGeom>
          <a:solidFill>
            <a:srgbClr val="141416"/>
          </a:solidFill>
          <a:ln w="9525">
            <a:solidFill>
              <a:srgbClr val="2A2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4919472"/>
            <a:ext cx="2487168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>
                <a:solidFill>
                  <a:srgbClr val="F5F5F7"/>
                </a:solidFill>
                <a:latin typeface="微软雅黑"/>
                <a:ea typeface="微软雅黑"/>
              </a:rPr>
              <a:t>canary 泄露追踪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4919472"/>
            <a:ext cx="384048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>
                <a:solidFill>
                  <a:srgbClr val="00A9FF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62288" y="4919472"/>
            <a:ext cx="2487168" cy="777240"/>
          </a:xfrm>
          <a:prstGeom prst="rect">
            <a:avLst/>
          </a:prstGeom>
          <a:solidFill>
            <a:srgbClr val="0E2A3A"/>
          </a:solidFill>
          <a:ln w="9525">
            <a:solidFill>
              <a:srgbClr val="2A2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62288" y="4919472"/>
            <a:ext cx="2487168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00A9FF"/>
                </a:solidFill>
                <a:latin typeface="微软雅黑"/>
                <a:ea typeface="微软雅黑"/>
              </a:rPr>
              <a:t>defense_score 量化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spc="200">
                <a:solidFill>
                  <a:srgbClr val="00A9FF"/>
                </a:solidFill>
                <a:latin typeface="Consolas"/>
                <a:ea typeface="微软雅黑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F5F5F7"/>
                </a:solidFill>
                <a:latin typeface="微软雅黑"/>
                <a:ea typeface="微软雅黑"/>
              </a:rPr>
              <a:t>毕业设计三部曲：建模 → 大屏 → 研判三级跳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25296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8E8E93"/>
                </a:solidFill>
                <a:latin typeface="微软雅黑"/>
                <a:ea typeface="微软雅黑"/>
              </a:rPr>
              <a:t>同一个命题，能力逐级放大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91056"/>
            <a:ext cx="11091672" cy="12801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3511296" cy="3017520"/>
          </a:xfrm>
          <a:prstGeom prst="rect">
            <a:avLst/>
          </a:prstGeom>
          <a:solidFill>
            <a:srgbClr val="141416"/>
          </a:solidFill>
          <a:ln w="9525">
            <a:solidFill>
              <a:srgbClr val="2A2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2140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A9FF"/>
                </a:solidFill>
                <a:latin typeface="微软雅黑"/>
                <a:ea typeface="微软雅黑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060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>
                <a:solidFill>
                  <a:srgbClr val="F5F5F7"/>
                </a:solidFill>
                <a:latin typeface="微软雅黑"/>
                <a:ea typeface="微软雅黑"/>
              </a:rPr>
              <a:t>智火卫渝 · 建模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" y="3227832"/>
            <a:ext cx="73152" cy="73152"/>
          </a:xfrm>
          <a:prstGeom prst="rect">
            <a:avLst/>
          </a:prstGeom>
          <a:solidFill>
            <a:srgbClr val="00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314553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8E8E93"/>
                </a:solidFill>
                <a:latin typeface="微软雅黑"/>
                <a:ea typeface="微软雅黑"/>
              </a:rPr>
              <a:t>KNN 火点预测 R² 0.971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3703320"/>
            <a:ext cx="73152" cy="73152"/>
          </a:xfrm>
          <a:prstGeom prst="rect">
            <a:avLst/>
          </a:prstGeom>
          <a:solidFill>
            <a:srgbClr val="00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62102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8E8E93"/>
                </a:solidFill>
                <a:latin typeface="微软雅黑"/>
                <a:ea typeface="微软雅黑"/>
              </a:rPr>
              <a:t>NDVI 植被指数 0.801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" y="4178808"/>
            <a:ext cx="73152" cy="73152"/>
          </a:xfrm>
          <a:prstGeom prst="rect">
            <a:avLst/>
          </a:prstGeom>
          <a:solidFill>
            <a:srgbClr val="00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" y="409651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8E8E93"/>
                </a:solidFill>
                <a:latin typeface="微软雅黑"/>
                <a:ea typeface="微软雅黑"/>
              </a:rPr>
              <a:t>五分项合成火险指数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8827" y="1874519"/>
            <a:ext cx="3511296" cy="3017520"/>
          </a:xfrm>
          <a:prstGeom prst="rect">
            <a:avLst/>
          </a:prstGeom>
          <a:solidFill>
            <a:srgbClr val="141416"/>
          </a:solidFill>
          <a:ln w="9525">
            <a:solidFill>
              <a:srgbClr val="2A2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1436" y="212140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A9FF"/>
                </a:solidFill>
                <a:latin typeface="微软雅黑"/>
                <a:ea typeface="微软雅黑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1436" y="26060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>
                <a:solidFill>
                  <a:srgbClr val="F5F5F7"/>
                </a:solidFill>
                <a:latin typeface="微软雅黑"/>
                <a:ea typeface="微软雅黑"/>
              </a:rPr>
              <a:t>云南火险大屏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49723" y="3227832"/>
            <a:ext cx="73152" cy="73152"/>
          </a:xfrm>
          <a:prstGeom prst="rect">
            <a:avLst/>
          </a:prstGeom>
          <a:solidFill>
            <a:srgbClr val="00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50892" y="314553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8E8E93"/>
                </a:solidFill>
                <a:latin typeface="微软雅黑"/>
                <a:ea typeface="微软雅黑"/>
              </a:rPr>
              <a:t>OpenLayers + 高德底图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49723" y="3703320"/>
            <a:ext cx="73152" cy="73152"/>
          </a:xfrm>
          <a:prstGeom prst="rect">
            <a:avLst/>
          </a:prstGeom>
          <a:solidFill>
            <a:srgbClr val="00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50892" y="362102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8E8E93"/>
                </a:solidFill>
                <a:latin typeface="微软雅黑"/>
                <a:ea typeface="微软雅黑"/>
              </a:rPr>
              <a:t>17 项地图与分析功能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49723" y="4178808"/>
            <a:ext cx="73152" cy="73152"/>
          </a:xfrm>
          <a:prstGeom prst="rect">
            <a:avLst/>
          </a:prstGeom>
          <a:solidFill>
            <a:srgbClr val="00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50892" y="409651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8E8E93"/>
                </a:solidFill>
                <a:latin typeface="微软雅黑"/>
                <a:ea typeface="微软雅黑"/>
              </a:rPr>
              <a:t>全省火险一张图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9015" y="1874519"/>
            <a:ext cx="3511296" cy="3017520"/>
          </a:xfrm>
          <a:prstGeom prst="rect">
            <a:avLst/>
          </a:prstGeom>
          <a:solidFill>
            <a:srgbClr val="141416"/>
          </a:solidFill>
          <a:ln w="9525">
            <a:solidFill>
              <a:srgbClr val="2A2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21624" y="212140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A9FF"/>
                </a:solidFill>
                <a:latin typeface="微软雅黑"/>
                <a:ea typeface="微软雅黑"/>
              </a:rPr>
              <a:t>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1624" y="26060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>
                <a:solidFill>
                  <a:srgbClr val="F5F5F7"/>
                </a:solidFill>
                <a:latin typeface="微软雅黑"/>
                <a:ea typeface="微软雅黑"/>
              </a:rPr>
              <a:t>焰哨 · 研判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9911" y="3227832"/>
            <a:ext cx="73152" cy="73152"/>
          </a:xfrm>
          <a:prstGeom prst="rect">
            <a:avLst/>
          </a:prstGeom>
          <a:solidFill>
            <a:srgbClr val="00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41080" y="314553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8E8E93"/>
                </a:solidFill>
                <a:latin typeface="微软雅黑"/>
                <a:ea typeface="微软雅黑"/>
              </a:rPr>
              <a:t>8 节点多 Agent 工作流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39911" y="3703320"/>
            <a:ext cx="73152" cy="73152"/>
          </a:xfrm>
          <a:prstGeom prst="rect">
            <a:avLst/>
          </a:prstGeom>
          <a:solidFill>
            <a:srgbClr val="00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41080" y="362102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8E8E93"/>
                </a:solidFill>
                <a:latin typeface="微软雅黑"/>
                <a:ea typeface="微软雅黑"/>
              </a:rPr>
              <a:t>研判报告 + 红队防线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39911" y="4178808"/>
            <a:ext cx="73152" cy="73152"/>
          </a:xfrm>
          <a:prstGeom prst="rect">
            <a:avLst/>
          </a:prstGeom>
          <a:solidFill>
            <a:srgbClr val="00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41080" y="409651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8E8E93"/>
                </a:solidFill>
                <a:latin typeface="微软雅黑"/>
                <a:ea typeface="微软雅黑"/>
              </a:rPr>
              <a:t>看数据 → 研判数据</a:t>
            </a:r>
          </a:p>
        </p:txBody>
      </p:sp>
      <p:pic>
        <p:nvPicPr>
          <p:cNvPr id="34" name="Picture 33" descr="trilogy.jpg"/>
          <p:cNvPicPr>
            <a:picLocks noChangeAspect="1"/>
          </p:cNvPicPr>
          <p:nvPr/>
        </p:nvPicPr>
        <p:blipFill>
          <a:blip r:embed="rId2"/>
          <a:srcRect t="25270" b="25270"/>
          <a:stretch>
            <a:fillRect/>
          </a:stretch>
        </p:blipFill>
        <p:spPr>
          <a:xfrm>
            <a:off x="548640" y="5074920"/>
            <a:ext cx="11091672" cy="137160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spc="200">
                <a:solidFill>
                  <a:srgbClr val="00A9FF"/>
                </a:solidFill>
                <a:latin typeface="Consolas"/>
                <a:ea typeface="微软雅黑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F5F5F7"/>
                </a:solidFill>
                <a:latin typeface="微软雅黑"/>
                <a:ea typeface="微软雅黑"/>
              </a:rPr>
              <a:t>开源资产：把个人方法沉淀为 MIT 公共财富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25296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8E8E93"/>
                </a:solidFill>
                <a:latin typeface="微软雅黑"/>
                <a:ea typeface="微软雅黑"/>
              </a:rPr>
              <a:t>一个参考实现博客 + 两个提炼技能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91056"/>
            <a:ext cx="11091672" cy="12801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5394960" cy="4160520"/>
          </a:xfrm>
          <a:prstGeom prst="rect">
            <a:avLst/>
          </a:prstGeom>
          <a:solidFill>
            <a:srgbClr val="141416"/>
          </a:solidFill>
          <a:ln w="9525">
            <a:solidFill>
              <a:srgbClr val="2A2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5F5F7"/>
                </a:solidFill>
                <a:latin typeface="微软雅黑"/>
                <a:ea typeface="微软雅黑"/>
              </a:rPr>
              <a:t>WJL 博客 — 高端前端参考实现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86968" y="2769489"/>
            <a:ext cx="82296" cy="82296"/>
          </a:xfrm>
          <a:prstGeom prst="rect">
            <a:avLst/>
          </a:prstGeom>
          <a:solidFill>
            <a:srgbClr val="00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2697480"/>
            <a:ext cx="4526280" cy="3760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F5F5F7"/>
                </a:solidFill>
                <a:latin typeface="微软雅黑"/>
                <a:ea typeface="微软雅黑"/>
              </a:rPr>
              <a:t>GSAP 滚动叙事  </a:t>
            </a:r>
            <a:r>
              <a:rPr sz="1350" b="0">
                <a:solidFill>
                  <a:srgbClr val="8E8E93"/>
                </a:solidFill>
                <a:latin typeface="微软雅黑"/>
                <a:ea typeface="微软雅黑"/>
              </a:rPr>
              <a:t>Lenis 平滑滚动 · 双向可逆触发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" y="3291840"/>
            <a:ext cx="82296" cy="82296"/>
          </a:xfrm>
          <a:prstGeom prst="rect">
            <a:avLst/>
          </a:prstGeom>
          <a:solidFill>
            <a:srgbClr val="00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3219831"/>
            <a:ext cx="4526280" cy="6332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F5F5F7"/>
                </a:solidFill>
                <a:latin typeface="微软雅黑"/>
                <a:ea typeface="微软雅黑"/>
              </a:rPr>
              <a:t>手写正则 tokenizer  </a:t>
            </a:r>
            <a:r>
              <a:rPr sz="1350" b="0">
                <a:solidFill>
                  <a:srgbClr val="8E8E93"/>
                </a:solidFill>
                <a:latin typeface="微软雅黑"/>
                <a:ea typeface="微软雅黑"/>
              </a:rPr>
              <a:t>macOS 风格 IDE 窗口 + 打字机动画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" y="4071366"/>
            <a:ext cx="82296" cy="82296"/>
          </a:xfrm>
          <a:prstGeom prst="rect">
            <a:avLst/>
          </a:prstGeom>
          <a:solidFill>
            <a:srgbClr val="00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" y="3999357"/>
            <a:ext cx="4526280" cy="3760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F5F5F7"/>
                </a:solidFill>
                <a:latin typeface="微软雅黑"/>
                <a:ea typeface="微软雅黑"/>
              </a:rPr>
              <a:t>零第三方依赖  </a:t>
            </a:r>
            <a:r>
              <a:rPr sz="1350" b="0">
                <a:solidFill>
                  <a:srgbClr val="8E8E93"/>
                </a:solidFill>
                <a:latin typeface="微软雅黑"/>
                <a:ea typeface="微软雅黑"/>
              </a:rPr>
              <a:t>全组件亮暗双主题自适应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" y="4593717"/>
            <a:ext cx="82296" cy="82296"/>
          </a:xfrm>
          <a:prstGeom prst="rect">
            <a:avLst/>
          </a:prstGeom>
          <a:solidFill>
            <a:srgbClr val="00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4712" y="4521708"/>
            <a:ext cx="4526280" cy="3760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F5F5F7"/>
                </a:solidFill>
                <a:latin typeface="微软雅黑"/>
                <a:ea typeface="微软雅黑"/>
              </a:rPr>
              <a:t>乱码收敛入场  </a:t>
            </a:r>
            <a:r>
              <a:rPr sz="1350" b="0">
                <a:solidFill>
                  <a:srgbClr val="8E8E93"/>
                </a:solidFill>
                <a:latin typeface="微软雅黑"/>
                <a:ea typeface="微软雅黑"/>
              </a:rPr>
              <a:t>字符噪声到正文的收敛动效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5486400"/>
            <a:ext cx="711326" cy="384048"/>
          </a:xfrm>
          <a:prstGeom prst="roundRect">
            <a:avLst>
              <a:gd name="adj" fmla="val 50000"/>
            </a:avLst>
          </a:prstGeom>
          <a:solidFill>
            <a:srgbClr val="141416"/>
          </a:solidFill>
          <a:ln w="9525">
            <a:solidFill>
              <a:srgbClr val="2A2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486400"/>
            <a:ext cx="71132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>
                <a:solidFill>
                  <a:srgbClr val="00A9FF"/>
                </a:solidFill>
                <a:latin typeface="微软雅黑"/>
                <a:ea typeface="微软雅黑"/>
              </a:rPr>
              <a:t>MIT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44598" y="5486400"/>
            <a:ext cx="2364613" cy="384048"/>
          </a:xfrm>
          <a:prstGeom prst="roundRect">
            <a:avLst>
              <a:gd name="adj" fmla="val 50000"/>
            </a:avLst>
          </a:prstGeom>
          <a:solidFill>
            <a:srgbClr val="141416"/>
          </a:solidFill>
          <a:ln w="9525">
            <a:solidFill>
              <a:srgbClr val="2A2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44598" y="5486400"/>
            <a:ext cx="236461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>
                <a:solidFill>
                  <a:srgbClr val="00A9FF"/>
                </a:solidFill>
                <a:latin typeface="微软雅黑"/>
                <a:ea typeface="微软雅黑"/>
              </a:rPr>
              <a:t>Cloudflare Workers 部署</a:t>
            </a:r>
          </a:p>
        </p:txBody>
      </p:sp>
      <p:pic>
        <p:nvPicPr>
          <p:cNvPr id="21" name="Picture 20" descr="opensource.jpg"/>
          <p:cNvPicPr>
            <a:picLocks noChangeAspect="1"/>
          </p:cNvPicPr>
          <p:nvPr/>
        </p:nvPicPr>
        <p:blipFill>
          <a:blip r:embed="rId2"/>
          <a:srcRect t="27700" b="27700"/>
          <a:stretch>
            <a:fillRect/>
          </a:stretch>
        </p:blipFill>
        <p:spPr>
          <a:xfrm>
            <a:off x="6172200" y="1874519"/>
            <a:ext cx="5468112" cy="1828800"/>
          </a:xfrm>
          <a:prstGeom prst="rect">
            <a:avLst/>
          </a:prstGeom>
          <a:effectLst/>
        </p:spPr>
      </p:pic>
      <p:sp>
        <p:nvSpPr>
          <p:cNvPr id="22" name="Rectangle 21"/>
          <p:cNvSpPr/>
          <p:nvPr/>
        </p:nvSpPr>
        <p:spPr>
          <a:xfrm>
            <a:off x="6172200" y="3886200"/>
            <a:ext cx="2642616" cy="2148840"/>
          </a:xfrm>
          <a:prstGeom prst="rect">
            <a:avLst/>
          </a:prstGeom>
          <a:solidFill>
            <a:srgbClr val="141416"/>
          </a:solidFill>
          <a:ln w="9525">
            <a:solidFill>
              <a:srgbClr val="2A2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9944" y="411480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0A9FF"/>
                </a:solidFill>
                <a:latin typeface="微软雅黑"/>
                <a:ea typeface="微软雅黑"/>
              </a:rPr>
              <a:t>Haute GSAP Skills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4736592"/>
            <a:ext cx="22402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E8E93"/>
                </a:solidFill>
                <a:latin typeface="微软雅黑"/>
                <a:ea typeface="微软雅黑"/>
              </a:rPr>
              <a:t>提炼 GSAP 官方技能精华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120640"/>
            <a:ext cx="22402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E8E93"/>
                </a:solidFill>
                <a:latin typeface="微软雅黑"/>
                <a:ea typeface="微软雅黑"/>
              </a:rPr>
              <a:t>九原则 + 六风格体系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9944" y="5504688"/>
            <a:ext cx="22402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E8E93"/>
                </a:solidFill>
                <a:latin typeface="微软雅黑"/>
                <a:ea typeface="微软雅黑"/>
              </a:rPr>
              <a:t>四路 agent 分发 · MIT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97696" y="3886200"/>
            <a:ext cx="2642616" cy="2148840"/>
          </a:xfrm>
          <a:prstGeom prst="rect">
            <a:avLst/>
          </a:prstGeom>
          <a:solidFill>
            <a:srgbClr val="141416"/>
          </a:solidFill>
          <a:ln w="9525">
            <a:solidFill>
              <a:srgbClr val="2A2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411480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0A9FF"/>
                </a:solidFill>
                <a:latin typeface="微软雅黑"/>
                <a:ea typeface="微软雅黑"/>
              </a:rPr>
              <a:t>Universal PPT Skill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4736592"/>
            <a:ext cx="22402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E8E93"/>
                </a:solidFill>
                <a:latin typeface="微软雅黑"/>
                <a:ea typeface="微软雅黑"/>
              </a:rPr>
              <a:t>提炼 17 个开源技能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5120640"/>
            <a:ext cx="22402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E8E93"/>
                </a:solidFill>
                <a:latin typeface="微软雅黑"/>
                <a:ea typeface="微软雅黑"/>
              </a:rPr>
              <a:t>六场景 · 30+ 风格 · 八路径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5504688"/>
            <a:ext cx="22402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E8E93"/>
                </a:solidFill>
                <a:latin typeface="微软雅黑"/>
                <a:ea typeface="微软雅黑"/>
              </a:rPr>
              <a:t>三道质检 · MIT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spc="200">
                <a:solidFill>
                  <a:srgbClr val="00A9FF"/>
                </a:solidFill>
                <a:latin typeface="Consolas"/>
                <a:ea typeface="微软雅黑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F5F5F7"/>
                </a:solidFill>
                <a:latin typeface="微软雅黑"/>
                <a:ea typeface="微软雅黑"/>
              </a:rPr>
              <a:t>数据速查：所有指标可溯源、可复现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25296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8E8E93"/>
                </a:solidFill>
                <a:latin typeface="微软雅黑"/>
                <a:ea typeface="微软雅黑"/>
              </a:rPr>
              <a:t>每一行都对应仓库、报告或实验记录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91056"/>
            <a:ext cx="11091672" cy="12801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11091672" cy="475488"/>
          </a:xfrm>
          <a:prstGeom prst="rect">
            <a:avLst/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1920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spc="100">
                <a:solidFill>
                  <a:srgbClr val="00A9FF"/>
                </a:solidFill>
                <a:latin typeface="Consolas"/>
                <a:ea typeface="微软雅黑"/>
              </a:rPr>
              <a:t>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965960"/>
            <a:ext cx="23774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spc="100">
                <a:solidFill>
                  <a:srgbClr val="00A9FF"/>
                </a:solidFill>
                <a:latin typeface="Consolas"/>
                <a:ea typeface="微软雅黑"/>
              </a:rPr>
              <a:t>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1965960"/>
            <a:ext cx="22860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spc="100">
                <a:solidFill>
                  <a:srgbClr val="00A9FF"/>
                </a:solidFill>
                <a:latin typeface="Consolas"/>
                <a:ea typeface="微软雅黑"/>
              </a:rPr>
              <a:t>结果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1965960"/>
            <a:ext cx="304495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spc="100">
                <a:solidFill>
                  <a:srgbClr val="00A9FF"/>
                </a:solidFill>
                <a:latin typeface="Consolas"/>
                <a:ea typeface="微软雅黑"/>
              </a:rPr>
              <a:t>说明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41448"/>
            <a:ext cx="11091672" cy="603504"/>
          </a:xfrm>
          <a:prstGeom prst="rect">
            <a:avLst/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44952"/>
            <a:ext cx="11091672" cy="12801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441448"/>
            <a:ext cx="19202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F5F5F7"/>
                </a:solidFill>
                <a:latin typeface="微软雅黑"/>
                <a:ea typeface="微软雅黑"/>
              </a:rPr>
              <a:t>智火卫渝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441448"/>
            <a:ext cx="23774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8E8E93"/>
                </a:solidFill>
                <a:latin typeface="微软雅黑"/>
                <a:ea typeface="微软雅黑"/>
              </a:rPr>
              <a:t>火点预测 R²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2441448"/>
            <a:ext cx="2286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00A9FF"/>
                </a:solidFill>
                <a:latin typeface="微软雅黑"/>
                <a:ea typeface="微软雅黑"/>
              </a:rPr>
              <a:t>0.971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441448"/>
            <a:ext cx="304495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8E8E93"/>
                </a:solidFill>
                <a:latin typeface="微软雅黑"/>
                <a:ea typeface="微软雅黑"/>
              </a:rPr>
              <a:t>KNN 空间分类建模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648456"/>
            <a:ext cx="11091672" cy="12801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044952"/>
            <a:ext cx="19202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F5F5F7"/>
                </a:solidFill>
                <a:latin typeface="微软雅黑"/>
                <a:ea typeface="微软雅黑"/>
              </a:rPr>
              <a:t>智火卫渝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3044952"/>
            <a:ext cx="23774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8E8E93"/>
                </a:solidFill>
                <a:latin typeface="微软雅黑"/>
                <a:ea typeface="微软雅黑"/>
              </a:rPr>
              <a:t>NDVI 植被指数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3044952"/>
            <a:ext cx="2286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00A9FF"/>
                </a:solidFill>
                <a:latin typeface="微软雅黑"/>
                <a:ea typeface="微软雅黑"/>
              </a:rPr>
              <a:t>0.801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3044952"/>
            <a:ext cx="304495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8E8E93"/>
                </a:solidFill>
                <a:latin typeface="微软雅黑"/>
                <a:ea typeface="微软雅黑"/>
              </a:rPr>
              <a:t>遥感特征回归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648456"/>
            <a:ext cx="11091672" cy="603504"/>
          </a:xfrm>
          <a:prstGeom prst="rect">
            <a:avLst/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251960"/>
            <a:ext cx="11091672" cy="12801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648456"/>
            <a:ext cx="19202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F5F5F7"/>
                </a:solidFill>
                <a:latin typeface="微软雅黑"/>
                <a:ea typeface="微软雅黑"/>
              </a:rPr>
              <a:t>推荐系统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3648456"/>
            <a:ext cx="23774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8E8E93"/>
                </a:solidFill>
                <a:latin typeface="微软雅黑"/>
                <a:ea typeface="微软雅黑"/>
              </a:rPr>
              <a:t>精确率 P@K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3648456"/>
            <a:ext cx="2286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00A9FF"/>
                </a:solidFill>
                <a:latin typeface="微软雅黑"/>
                <a:ea typeface="微软雅黑"/>
              </a:rPr>
              <a:t>0.96 / 0.99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3648456"/>
            <a:ext cx="304495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8E8E93"/>
                </a:solidFill>
                <a:latin typeface="微软雅黑"/>
                <a:ea typeface="微软雅黑"/>
              </a:rPr>
              <a:t>协同过滤 · 双场景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855464"/>
            <a:ext cx="11091672" cy="12801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251960"/>
            <a:ext cx="19202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F5F5F7"/>
                </a:solidFill>
                <a:latin typeface="微软雅黑"/>
                <a:ea typeface="微软雅黑"/>
              </a:rPr>
              <a:t>Informer 复现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63240" y="4251960"/>
            <a:ext cx="23774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8E8E93"/>
                </a:solidFill>
                <a:latin typeface="微软雅黑"/>
                <a:ea typeface="微软雅黑"/>
              </a:rPr>
              <a:t>早停对照 MSE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4251960"/>
            <a:ext cx="2286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00A9FF"/>
                </a:solidFill>
                <a:latin typeface="微软雅黑"/>
                <a:ea typeface="微软雅黑"/>
              </a:rPr>
              <a:t>0.77 vs 0.45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251960"/>
            <a:ext cx="304495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8E8E93"/>
                </a:solidFill>
                <a:latin typeface="微软雅黑"/>
                <a:ea typeface="微软雅黑"/>
              </a:rPr>
              <a:t>定量验证早停价值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855464"/>
            <a:ext cx="11091672" cy="603504"/>
          </a:xfrm>
          <a:prstGeom prst="rect">
            <a:avLst/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5458968"/>
            <a:ext cx="11091672" cy="12801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855464"/>
            <a:ext cx="19202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F5F5F7"/>
                </a:solidFill>
                <a:latin typeface="微软雅黑"/>
                <a:ea typeface="微软雅黑"/>
              </a:rPr>
              <a:t>焰哨平台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63240" y="4855464"/>
            <a:ext cx="23774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8E8E93"/>
                </a:solidFill>
                <a:latin typeface="微软雅黑"/>
                <a:ea typeface="微软雅黑"/>
              </a:rPr>
              <a:t>工作流编排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6440" y="4855464"/>
            <a:ext cx="2286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00A9FF"/>
                </a:solidFill>
                <a:latin typeface="微软雅黑"/>
                <a:ea typeface="微软雅黑"/>
              </a:rPr>
              <a:t>8 节点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4855464"/>
            <a:ext cx="304495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8E8E93"/>
                </a:solidFill>
                <a:latin typeface="微软雅黑"/>
                <a:ea typeface="微软雅黑"/>
              </a:rPr>
              <a:t>LangGraph 状态机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6062472"/>
            <a:ext cx="11091672" cy="12801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458968"/>
            <a:ext cx="19202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F5F5F7"/>
                </a:solidFill>
                <a:latin typeface="微软雅黑"/>
                <a:ea typeface="微软雅黑"/>
              </a:rPr>
              <a:t>Universal PPT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63240" y="5458968"/>
            <a:ext cx="23774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8E8E93"/>
                </a:solidFill>
                <a:latin typeface="微软雅黑"/>
                <a:ea typeface="微软雅黑"/>
              </a:rPr>
              <a:t>技能提炼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06440" y="5458968"/>
            <a:ext cx="2286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00A9FF"/>
                </a:solidFill>
                <a:latin typeface="微软雅黑"/>
                <a:ea typeface="微软雅黑"/>
              </a:rPr>
              <a:t>17 → 6 场景 · 8 路径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5458968"/>
            <a:ext cx="304495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8E8E93"/>
                </a:solidFill>
                <a:latin typeface="微软雅黑"/>
                <a:ea typeface="微软雅黑"/>
              </a:rPr>
              <a:t>30+ 风格 · 全部可溯源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spc="200">
                <a:solidFill>
                  <a:srgbClr val="8E8E93"/>
                </a:solidFill>
                <a:latin typeface="Consolas"/>
                <a:ea typeface="微软雅黑"/>
              </a:rPr>
              <a:t>WJL · SELF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57400"/>
            <a:ext cx="110916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4200" b="1">
                <a:solidFill>
                  <a:srgbClr val="F5F5F7"/>
                </a:solidFill>
                <a:latin typeface="微软雅黑"/>
                <a:ea typeface="微软雅黑"/>
              </a:rPr>
              <a:t>会做系统，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10916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4200" b="1">
                <a:solidFill>
                  <a:srgbClr val="F5F5F7"/>
                </a:solidFill>
                <a:latin typeface="微软雅黑"/>
                <a:ea typeface="微软雅黑"/>
              </a:rPr>
              <a:t>更</a:t>
            </a:r>
            <a:r>
              <a:rPr sz="4200" b="1">
                <a:solidFill>
                  <a:srgbClr val="00A9FF"/>
                </a:solidFill>
                <a:latin typeface="微软雅黑"/>
                <a:ea typeface="微软雅黑"/>
              </a:rPr>
              <a:t>沉淀方法</a:t>
            </a:r>
            <a:r>
              <a:rPr sz="4200" b="1">
                <a:solidFill>
                  <a:srgbClr val="F5F5F7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6908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0">
                <a:solidFill>
                  <a:srgbClr val="8E8E93"/>
                </a:solidFill>
                <a:latin typeface="微软雅黑"/>
                <a:ea typeface="微软雅黑"/>
              </a:rPr>
              <a:t>预测模型 → 可视化大屏 → 多 Agent 平台 → 红队防线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4270248" y="4709160"/>
            <a:ext cx="3657600" cy="12801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02920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>
                <a:solidFill>
                  <a:srgbClr val="00A9FF"/>
                </a:solidFill>
                <a:latin typeface="微软雅黑"/>
                <a:ea typeface="微软雅黑"/>
              </a:rPr>
              <a:t>GitHub / Gitee · WJLGraph · 欢迎交流与合作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
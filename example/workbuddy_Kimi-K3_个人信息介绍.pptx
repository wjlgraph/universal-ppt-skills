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技能项数量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前端开发</c:v>
                </c:pt>
                <c:pt idx="1">
                  <c:v>后端工程</c:v>
                </c:pt>
                <c:pt idx="2">
                  <c:v>AI 工程</c:v>
                </c:pt>
                <c:pt idx="3">
                  <c:v>Agent 安全</c:v>
                </c:pt>
                <c:pt idx="4">
                  <c:v>算法与数据</c:v>
                </c:pt>
                <c:pt idx="5">
                  <c:v>工程美学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8</c:v>
                </c:pt>
                <c:pt idx="2">
                  <c:v>8</c:v>
                </c:pt>
                <c:pt idx="3">
                  <c:v>5</c:v>
                </c:pt>
                <c:pt idx="4">
                  <c:v>7</c:v>
                </c:pt>
                <c:pt idx="5">
                  <c:v>4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各位好，我是 WJL，做 AI Agent、数据可视化和全栈开发。接下来用一条主线和一组真实数据介绍我的项目经历：从火险大屏到多 Agent 系统，再到为它打造的红队防线，所有内容都能回到公开仓库核对。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一句话定位：把看数据升级为由系统替你研判数据。十七个以上公开仓库、八个以上完整项目、五大技术方向，这三组数字全部来自真实仓库与项目记录，后面每一页都能对应到具体项目，欢迎随时追问出处。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能力面按六个方向组织：前端、后端、AI 工程、Agent 安全、算法与数据、工程美学。雷达图的数值是技能矩阵里每个方向的条目计数，反映涉猎广度而非自评等级，右侧给出每个方向的代表性技术栈。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成长线五个阶段：前端筑基建立工程习惯；机器学习建模接触时序与空间数据；毕业设计把模型做成大屏；随后演进到多 Agent 系统；最后用红队平台守住安全底线，并把方法开源沉淀为可复用资产。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火防三部曲是主线起点。火点数据稀疏，用 KNN 状态空间重构把测试集 R 方做到 0.971；NDVI 用气候态混合模型做到 0.801；最终落成云南省火险监测大屏，十七项功能，Gitee 三星，完成了从建模到可视化的闭环。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焰哨系统是三部曲的终点。LangGraph 编排八个节点，双路并行后汇聚，评审循环加人工审批门保证报告质量；SSE 推送配合断点保存，长任务不再黑盒、可在任意节点恢复；前端做成指挥中心级的双主题大屏。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系统上线前要先挨打。Agent-Gauntlet 复现工具返回夹带这类隐蔽注入，用金丝雀标记和四级判定把防御水位量化成可回归对比的分数，再用混沌注入测恢复率，与焰哨的门控开关联动，闭环到修复。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这一页是硬指标汇总。每个数字都能回到仓库或实验记录：0.971 的火点预测精度、接近满分的推荐精确率、早停与不早停的对照实验，全部留有运行痕迹，欢迎追问任何一个数字的出处与复现方式。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最后讲沉淀。把 GSAP 动效方法和 PPT 生成方法分别蒸馏成两个开源技能，前者四路分发、协议合规，后者建成场景路由、风格库与渲染路径体系。做系统和做方法资产，在我这里是同一种工程能力的两种表达。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我的工程观就三句话：系统要可靠，界面要克制，体验要有呼吸感。如果想深入了解任何一个项目，代码都在 GitHub 与 Gitee 的 WJLGraph 账号下，欢迎随时交流，谢谢各位。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6766560" cy="34747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1F4E79"/>
                </a:solidFill>
                <a:latin typeface="Microsoft YaHei"/>
                <a:ea typeface="Microsoft YaHei"/>
              </a:rPr>
              <a:t>WJL</a:t>
            </a:r>
          </a:p>
          <a:p>
            <a:pPr algn="l"/>
            <a:r>
              <a:rPr sz="3000" b="1">
                <a:solidFill>
                  <a:srgbClr val="2E75B6"/>
                </a:solidFill>
                <a:latin typeface="Microsoft YaHei"/>
                <a:ea typeface="Microsoft YaHei"/>
              </a:rPr>
              <a:t>个人信息介绍</a:t>
            </a:r>
          </a:p>
          <a:p>
            <a:pPr algn="l"/>
            <a:r>
              <a:rPr sz="1500" b="0">
                <a:solidFill>
                  <a:srgbClr val="3B3B3B"/>
                </a:solidFill>
                <a:latin typeface="Microsoft YaHei"/>
                <a:ea typeface="Microsoft YaHei"/>
              </a:rPr>
              <a:t>AI Agent × 数据可视化 × 全栈开发</a:t>
            </a:r>
          </a:p>
          <a:p>
            <a:pPr algn="l"/>
            <a:r>
              <a:rPr sz="1300" b="0">
                <a:solidFill>
                  <a:srgbClr val="808080"/>
                </a:solidFill>
                <a:latin typeface="Microsoft YaHei"/>
                <a:ea typeface="Microsoft YaHei"/>
              </a:rPr>
              <a:t>GitHub / Gitee @WJLGraph</a:t>
            </a:r>
          </a:p>
        </p:txBody>
      </p:sp>
      <p:pic>
        <p:nvPicPr>
          <p:cNvPr id="3" name="Picture 2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0" y="914400"/>
            <a:ext cx="3703320" cy="4937760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502920" y="5212080"/>
            <a:ext cx="6400800" cy="91440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  <a:latin typeface="Microsoft YaHei"/>
                <a:ea typeface="Microsoft YaHei"/>
              </a:rPr>
              <a:t>把「看数据」升级为「由系统替你研判数据」</a:t>
            </a:r>
          </a:p>
          <a:p>
            <a:pPr algn="l"/>
            <a:r>
              <a:rPr sz="1600" b="0">
                <a:solidFill>
                  <a:srgbClr val="1F4E79"/>
                </a:solidFill>
                <a:latin typeface="Microsoft YaHei"/>
                <a:ea typeface="Microsoft YaHei"/>
              </a:rPr>
              <a:t>并亲手为系统打造红队防线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一句话定位：把「看数据」升级为「由系统替你研判数据」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118311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17+</a:t>
                      </a:r>
                    </a:p>
                  </a:txBody>
                  <a:tcPr marL="73152" marR="73152"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8+</a:t>
                      </a:r>
                    </a:p>
                  </a:txBody>
                  <a:tcPr marL="73152" marR="73152"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5 大</a:t>
                      </a:r>
                    </a:p>
                  </a:txBody>
                  <a:tcPr marL="73152" marR="73152" marT="27432" marB="27432">
                    <a:solidFill>
                      <a:srgbClr val="2E75B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08080"/>
                          </a:solidFill>
                          <a:latin typeface="Microsoft YaHei"/>
                          <a:ea typeface="Microsoft YaHei"/>
                        </a:rPr>
                        <a:t>公开仓库（GitHub / Gitee）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08080"/>
                          </a:solidFill>
                          <a:latin typeface="Microsoft YaHei"/>
                          <a:ea typeface="Microsoft YaHei"/>
                        </a:rPr>
                        <a:t>完整项目（从算法到产品）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08080"/>
                          </a:solidFill>
                          <a:latin typeface="Microsoft YaHei"/>
                          <a:ea typeface="Microsoft YaHei"/>
                        </a:rPr>
                        <a:t>技术方向（前端到 Agent 安全）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063240"/>
            <a:ext cx="11183112" cy="237744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B3B3B"/>
                </a:solidFill>
                <a:latin typeface="Microsoft YaHei"/>
                <a:ea typeface="Microsoft YaHei"/>
              </a:rPr>
              <a:t>我是 WJL，一名专注于 AI Agent 与数据可视化的开发者。</a:t>
            </a:r>
          </a:p>
          <a:p>
            <a:pPr algn="l"/>
            <a:r>
              <a:rPr sz="1400" b="0">
                <a:solidFill>
                  <a:srgbClr val="3B3B3B"/>
                </a:solidFill>
                <a:latin typeface="Microsoft YaHei"/>
                <a:ea typeface="Microsoft YaHei"/>
              </a:rPr>
              <a:t>从 Vue 小程序起步，经历地理信息大屏、推荐算法与时间序列预测的锤炼，</a:t>
            </a:r>
          </a:p>
          <a:p>
            <a:pPr algn="l"/>
            <a:r>
              <a:rPr sz="1400" b="0">
                <a:solidFill>
                  <a:srgbClr val="3B3B3B"/>
                </a:solidFill>
                <a:latin typeface="Microsoft YaHei"/>
                <a:ea typeface="Microsoft YaHei"/>
              </a:rPr>
              <a:t>如今专注于以大模型为核心的多 Agent 系统与 Agent 安全测试。</a:t>
            </a:r>
          </a:p>
          <a:p>
            <a:pPr algn="l"/>
            <a:r>
              <a:rPr sz="1400" b="0">
                <a:solidFill>
                  <a:srgbClr val="3B3B3B"/>
                </a:solidFill>
                <a:latin typeface="Microsoft YaHei"/>
                <a:ea typeface="Microsoft YaHei"/>
              </a:rPr>
              <a:t>我相信好的工程是理性架构与审美直觉的结合：系统要可靠，界面要克制，体验要有呼吸感。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六大技术方向覆盖从前端工程到 Agent 安全的完整链条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58521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132320" y="1554480"/>
            <a:ext cx="4572000" cy="457200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前端开发</a:t>
            </a:r>
            <a:r>
              <a:rPr sz="1200" b="0">
                <a:solidFill>
                  <a:srgbClr val="3B3B3B"/>
                </a:solidFill>
                <a:latin typeface="Microsoft YaHei"/>
                <a:ea typeface="Microsoft YaHei"/>
              </a:rPr>
              <a:t>　Vue3 · ECharts · Three.js · GSAP</a:t>
            </a:r>
          </a:p>
          <a:p>
            <a:pPr algn="l"/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后端工程</a:t>
            </a:r>
            <a:r>
              <a:rPr sz="1200" b="0">
                <a:solidFill>
                  <a:srgbClr val="3B3B3B"/>
                </a:solidFill>
                <a:latin typeface="Microsoft YaHei"/>
                <a:ea typeface="Microsoft YaHei"/>
              </a:rPr>
              <a:t>　FastAPI · PostgreSQL · SSE 流式</a:t>
            </a:r>
          </a:p>
          <a:p>
            <a:pPr algn="l"/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AI 工程</a:t>
            </a:r>
            <a:r>
              <a:rPr sz="1200" b="0">
                <a:solidFill>
                  <a:srgbClr val="3B3B3B"/>
                </a:solidFill>
                <a:latin typeface="Microsoft YaHei"/>
                <a:ea typeface="Microsoft YaHei"/>
              </a:rPr>
              <a:t>　LangGraph · RAG · HITL · MCP</a:t>
            </a:r>
          </a:p>
          <a:p>
            <a:pPr algn="l"/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Agent 安全</a:t>
            </a:r>
            <a:r>
              <a:rPr sz="1200" b="0">
                <a:solidFill>
                  <a:srgbClr val="3B3B3B"/>
                </a:solidFill>
                <a:latin typeface="Microsoft YaHei"/>
                <a:ea typeface="Microsoft YaHei"/>
              </a:rPr>
              <a:t>　提示注入 · 蜜罐 · 混沌注入</a:t>
            </a:r>
          </a:p>
          <a:p>
            <a:pPr algn="l"/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算法与数据</a:t>
            </a:r>
            <a:r>
              <a:rPr sz="1200" b="0">
                <a:solidFill>
                  <a:srgbClr val="3B3B3B"/>
                </a:solidFill>
                <a:latin typeface="Microsoft YaHei"/>
                <a:ea typeface="Microsoft YaHei"/>
              </a:rPr>
              <a:t>　KNN 重构 · Attention-LSTM · 协同过滤</a:t>
            </a:r>
          </a:p>
          <a:p>
            <a:pPr algn="l"/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工程美学</a:t>
            </a:r>
            <a:r>
              <a:rPr sz="1200" b="0">
                <a:solidFill>
                  <a:srgbClr val="3B3B3B"/>
                </a:solidFill>
                <a:latin typeface="Microsoft YaHei"/>
                <a:ea typeface="Microsoft YaHei"/>
              </a:rPr>
              <a:t>　动效体系 · 双主题 · 数据大屏</a:t>
            </a:r>
          </a:p>
          <a:p>
            <a:pPr algn="l"/>
            <a:r>
              <a:rPr sz="1000" b="0">
                <a:solidFill>
                  <a:srgbClr val="808080"/>
                </a:solidFill>
                <a:latin typeface="Microsoft YaHei"/>
                <a:ea typeface="Microsoft YaHei"/>
              </a:rPr>
              <a:t>（雷达图数值 = 技能矩阵各方向条目计数，反映广度而非自评等级）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从前端筑基到 Agent 安全：五个阶段完成三次范式切换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3310128"/>
            <a:ext cx="10561320" cy="0"/>
          </a:xfrm>
          <a:prstGeom prst="line">
            <a:avLst/>
          </a:prstGeom>
          <a:ln w="1524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40664" y="3227832"/>
            <a:ext cx="164592" cy="164592"/>
          </a:xfrm>
          <a:prstGeom prst="ellipse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" y="2148840"/>
            <a:ext cx="1499616" cy="100584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前端筑基</a:t>
            </a:r>
          </a:p>
          <a:p>
            <a:pPr algn="ctr"/>
            <a:r>
              <a:rPr sz="950" b="0">
                <a:solidFill>
                  <a:srgbClr val="3B3B3B"/>
                </a:solidFill>
                <a:latin typeface="Microsoft YaHei"/>
                <a:ea typeface="Microsoft YaHei"/>
              </a:rPr>
              <a:t>Vue2 商城与小程序</a:t>
            </a:r>
          </a:p>
          <a:p>
            <a:pPr algn="ctr"/>
            <a:r>
              <a:rPr sz="950" b="0">
                <a:solidFill>
                  <a:srgbClr val="808080"/>
                </a:solidFill>
                <a:latin typeface="Microsoft YaHei"/>
                <a:ea typeface="Microsoft YaHei"/>
              </a:rPr>
              <a:t>建立工程化思维</a:t>
            </a:r>
          </a:p>
        </p:txBody>
      </p:sp>
      <p:sp>
        <p:nvSpPr>
          <p:cNvPr id="6" name="Oval 5"/>
          <p:cNvSpPr/>
          <p:nvPr/>
        </p:nvSpPr>
        <p:spPr>
          <a:xfrm>
            <a:off x="2500884" y="3227832"/>
            <a:ext cx="164592" cy="164592"/>
          </a:xfrm>
          <a:prstGeom prst="ellipse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3372" y="3703320"/>
            <a:ext cx="1499616" cy="100584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全栈与初触 AI</a:t>
            </a:r>
          </a:p>
          <a:p>
            <a:pPr algn="ctr"/>
            <a:r>
              <a:rPr sz="950" b="0">
                <a:solidFill>
                  <a:srgbClr val="3B3B3B"/>
                </a:solidFill>
                <a:latin typeface="Microsoft YaHei"/>
                <a:ea typeface="Microsoft YaHei"/>
              </a:rPr>
              <a:t>Vue3 全栈应用</a:t>
            </a:r>
          </a:p>
          <a:p>
            <a:pPr algn="ctr"/>
            <a:r>
              <a:rPr sz="950" b="0">
                <a:solidFill>
                  <a:srgbClr val="808080"/>
                </a:solidFill>
                <a:latin typeface="Microsoft YaHei"/>
                <a:ea typeface="Microsoft YaHei"/>
              </a:rPr>
              <a:t>接入大模型能力</a:t>
            </a:r>
          </a:p>
        </p:txBody>
      </p:sp>
      <p:sp>
        <p:nvSpPr>
          <p:cNvPr id="8" name="Oval 7"/>
          <p:cNvSpPr/>
          <p:nvPr/>
        </p:nvSpPr>
        <p:spPr>
          <a:xfrm>
            <a:off x="4261104" y="3227832"/>
            <a:ext cx="164592" cy="164592"/>
          </a:xfrm>
          <a:prstGeom prst="ellipse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2148840"/>
            <a:ext cx="1499616" cy="100584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机器学习建模</a:t>
            </a:r>
          </a:p>
          <a:p>
            <a:pPr algn="ctr"/>
            <a:r>
              <a:rPr sz="950" b="0">
                <a:solidFill>
                  <a:srgbClr val="3B3B3B"/>
                </a:solidFill>
                <a:latin typeface="Microsoft YaHei"/>
                <a:ea typeface="Microsoft YaHei"/>
              </a:rPr>
              <a:t>智火卫渝三模型</a:t>
            </a:r>
          </a:p>
          <a:p>
            <a:pPr algn="ctr"/>
            <a:r>
              <a:rPr sz="950" b="0">
                <a:solidFill>
                  <a:srgbClr val="808080"/>
                </a:solidFill>
                <a:latin typeface="Microsoft YaHei"/>
                <a:ea typeface="Microsoft YaHei"/>
              </a:rPr>
              <a:t>火险预测 R² 0.971</a:t>
            </a:r>
          </a:p>
        </p:txBody>
      </p:sp>
      <p:sp>
        <p:nvSpPr>
          <p:cNvPr id="10" name="Oval 9"/>
          <p:cNvSpPr/>
          <p:nvPr/>
        </p:nvSpPr>
        <p:spPr>
          <a:xfrm>
            <a:off x="6021324" y="3227832"/>
            <a:ext cx="164592" cy="164592"/>
          </a:xfrm>
          <a:prstGeom prst="ellipse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3812" y="3703320"/>
            <a:ext cx="1499616" cy="100584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时序与推荐</a:t>
            </a:r>
          </a:p>
          <a:p>
            <a:pPr algn="ctr"/>
            <a:r>
              <a:rPr sz="950" b="0">
                <a:solidFill>
                  <a:srgbClr val="3B3B3B"/>
                </a:solidFill>
                <a:latin typeface="Microsoft YaHei"/>
                <a:ea typeface="Microsoft YaHei"/>
              </a:rPr>
              <a:t>Informer 复现</a:t>
            </a:r>
          </a:p>
          <a:p>
            <a:pPr algn="ctr"/>
            <a:r>
              <a:rPr sz="950" b="0">
                <a:solidFill>
                  <a:srgbClr val="808080"/>
                </a:solidFill>
                <a:latin typeface="Microsoft YaHei"/>
                <a:ea typeface="Microsoft YaHei"/>
              </a:rPr>
              <a:t>协同过滤落地云牧</a:t>
            </a:r>
          </a:p>
        </p:txBody>
      </p:sp>
      <p:sp>
        <p:nvSpPr>
          <p:cNvPr id="12" name="Oval 11"/>
          <p:cNvSpPr/>
          <p:nvPr/>
        </p:nvSpPr>
        <p:spPr>
          <a:xfrm>
            <a:off x="7781544" y="3227832"/>
            <a:ext cx="164592" cy="164592"/>
          </a:xfrm>
          <a:prstGeom prst="ellipse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4031" y="2148840"/>
            <a:ext cx="1499616" cy="100584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毕业设计大屏</a:t>
            </a:r>
          </a:p>
          <a:p>
            <a:pPr algn="ctr"/>
            <a:r>
              <a:rPr sz="950" b="0">
                <a:solidFill>
                  <a:srgbClr val="3B3B3B"/>
                </a:solidFill>
                <a:latin typeface="Microsoft YaHei"/>
                <a:ea typeface="Microsoft YaHei"/>
              </a:rPr>
              <a:t>云南火险监测</a:t>
            </a:r>
          </a:p>
          <a:p>
            <a:pPr algn="ctr"/>
            <a:r>
              <a:rPr sz="950" b="0">
                <a:solidFill>
                  <a:srgbClr val="808080"/>
                </a:solidFill>
                <a:latin typeface="Microsoft YaHei"/>
                <a:ea typeface="Microsoft YaHei"/>
              </a:rPr>
              <a:t>17 项功能 ★3</a:t>
            </a:r>
          </a:p>
        </p:txBody>
      </p:sp>
      <p:sp>
        <p:nvSpPr>
          <p:cNvPr id="14" name="Oval 13"/>
          <p:cNvSpPr/>
          <p:nvPr/>
        </p:nvSpPr>
        <p:spPr>
          <a:xfrm>
            <a:off x="9541764" y="3227832"/>
            <a:ext cx="164592" cy="164592"/>
          </a:xfrm>
          <a:prstGeom prst="ellipse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74252" y="3703320"/>
            <a:ext cx="1499616" cy="100584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Agent 与红队</a:t>
            </a:r>
          </a:p>
          <a:p>
            <a:pPr algn="ctr"/>
            <a:r>
              <a:rPr sz="950" b="0">
                <a:solidFill>
                  <a:srgbClr val="3B3B3B"/>
                </a:solidFill>
                <a:latin typeface="Microsoft YaHei"/>
                <a:ea typeface="Microsoft YaHei"/>
              </a:rPr>
              <a:t>焰哨 + Gauntlet</a:t>
            </a:r>
          </a:p>
          <a:p>
            <a:pPr algn="ctr"/>
            <a:r>
              <a:rPr sz="950" b="0">
                <a:solidFill>
                  <a:srgbClr val="808080"/>
                </a:solidFill>
                <a:latin typeface="Microsoft YaHei"/>
                <a:ea typeface="Microsoft YaHei"/>
              </a:rPr>
              <a:t>研判与安全闭环</a:t>
            </a:r>
          </a:p>
        </p:txBody>
      </p:sp>
      <p:sp>
        <p:nvSpPr>
          <p:cNvPr id="16" name="Oval 15"/>
          <p:cNvSpPr/>
          <p:nvPr/>
        </p:nvSpPr>
        <p:spPr>
          <a:xfrm>
            <a:off x="11301984" y="3227832"/>
            <a:ext cx="164592" cy="164592"/>
          </a:xfrm>
          <a:prstGeom prst="ellipse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34472" y="2148840"/>
            <a:ext cx="1499616" cy="100584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开源沉淀</a:t>
            </a:r>
          </a:p>
          <a:p>
            <a:pPr algn="ctr"/>
            <a:r>
              <a:rPr sz="950" b="0">
                <a:solidFill>
                  <a:srgbClr val="3B3B3B"/>
                </a:solidFill>
                <a:latin typeface="Microsoft YaHei"/>
                <a:ea typeface="Microsoft YaHei"/>
              </a:rPr>
              <a:t>双技能发布</a:t>
            </a:r>
          </a:p>
          <a:p>
            <a:pPr algn="ctr"/>
            <a:r>
              <a:rPr sz="950" b="0">
                <a:solidFill>
                  <a:srgbClr val="808080"/>
                </a:solidFill>
                <a:latin typeface="Microsoft YaHei"/>
                <a:ea typeface="Microsoft YaHei"/>
              </a:rPr>
              <a:t>方法资产化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86400"/>
            <a:ext cx="11183112" cy="64008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E75B6"/>
                </a:solidFill>
                <a:latin typeface="Microsoft YaHei"/>
                <a:ea typeface="Microsoft YaHei"/>
              </a:rPr>
              <a:t>主线一以贯之：大屏（看数据）→ Agent（研判数据）→ 红队（守护系统）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火防三部曲：从 KNN 火点预测走到 17 项功能的省级火险大屏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5394960" cy="420624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火点数据高度稀疏，KNN 状态空间重构把测试集 R² 做到 0.971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气候态-AR 混合模型预测 NDVI，测试集 R² 0.801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构建 FE 五分项火险指数与五级分档体系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OpenLayers + 高德底图 + ECharts 大屏落地 17 项功能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覆盖火点聚合、四级风险着色、热力成像与时空筛选</a:t>
            </a:r>
          </a:p>
        </p:txBody>
      </p:sp>
      <p:pic>
        <p:nvPicPr>
          <p:cNvPr id="4" name="Picture 3" descr="trilo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503170"/>
            <a:ext cx="5577840" cy="139446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焰哨系统：LangGraph 8 节点编排让研判全自动且可被人工接管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5394960" cy="420624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parse_task 到 HITL 审批门的 8 节点工作流，双路并行 fan-out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SSE 节点级进度推送，长任务不再黑盒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PostgresSaver checkpoint，任意节点中断可恢复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评审循环 + 失败模板兜底双重降级，报告服务零中断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Vue3 八大模块前端：2D/3D 数字孪生、双主题、全链路语音</a:t>
            </a:r>
          </a:p>
        </p:txBody>
      </p:sp>
      <p:pic>
        <p:nvPicPr>
          <p:cNvPr id="4" name="Picture 3" descr="fireag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03069"/>
            <a:ext cx="5577840" cy="418338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Agent-Gauntlet：四级防御判定把安全水位变成可回归的分数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5394960" cy="420624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工具返回夹带注入器，复现最隐蔽的间接注入通路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canary 标记 + LEAKED→BLOCKED 四级判定，量化 defense_score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混沌故障注入度量 recovery_rate 恢复率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与焰哨 env 门控 chaos hook 联动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形成「攻击 — 防御 — 修复」的安全闭环</a:t>
            </a:r>
          </a:p>
        </p:txBody>
      </p:sp>
      <p:pic>
        <p:nvPicPr>
          <p:cNvPr id="4" name="Picture 3" descr="gauntl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03069"/>
            <a:ext cx="5577840" cy="418338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关键指标全部来自真实项目，可逐一回到仓库与实验记录复核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71600"/>
          <a:ext cx="11183111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6572"/>
                <a:gridCol w="6416539"/>
              </a:tblGrid>
              <a:tr h="60089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 marL="73152" marR="73152"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</a:t>
                      </a:r>
                    </a:p>
                  </a:txBody>
                  <a:tcPr marL="73152" marR="73152" marT="27432" marB="27432">
                    <a:solidFill>
                      <a:srgbClr val="2E75B6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火点预测精度（KNN 状态空间重构）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测试 R² 0.971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NDVI 预测精度（气候态-AR 混合）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测试 R² 0.801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推荐精确率（UserCF / ItemCF）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Precision 0.96 / 0.99，覆盖率 1.0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Informer 复现（早停对照实验）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测试 R² 0.77 vs 0.45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Agent 编排规模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LangGraph 8 节点（并行 fan-out + HITL）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红队判定体系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四级防御判定 + defense_score 量化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开源双技能：把工程方法沉淀为可分发、可复用的 Agent 资产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5394960" cy="420624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Haute GSAP Skills：6 大风格体系 + 12 动效模式 + 10 节引擎纪律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四路分发（skills CLI / Claude / Cursor / Copilot），MIT 合规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Universal PPT：蒸馏 17 个开源 skill 的全场景演示技能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6 类场景路由 × 30+ 风格库 × 8 条渲染路径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内容—视觉—溯源三道质检闸，脚本自动判死</a:t>
            </a:r>
          </a:p>
        </p:txBody>
      </p:sp>
      <p:pic>
        <p:nvPicPr>
          <p:cNvPr id="4" name="Picture 3" descr="opensour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03069"/>
            <a:ext cx="5577840" cy="418338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理性架构与审美直觉的结合，是可以长期坚持的工程观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103120"/>
            <a:ext cx="11183112" cy="237744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F4E79"/>
                </a:solidFill>
                <a:latin typeface="Microsoft YaHei"/>
                <a:ea typeface="Microsoft YaHei"/>
              </a:rPr>
              <a:t>系统要可靠，界面要克制，体验要有呼吸感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0"/>
            <a:ext cx="11183112" cy="128016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3B3B3B"/>
                </a:solidFill>
                <a:latin typeface="Microsoft YaHei"/>
                <a:ea typeface="Microsoft YaHei"/>
              </a:rPr>
              <a:t>WJL · AI Agent × 数据可视化 × 全栈开发</a:t>
            </a:r>
          </a:p>
          <a:p>
            <a:pPr algn="ctr"/>
            <a:r>
              <a:rPr sz="1400" b="0">
                <a:solidFill>
                  <a:srgbClr val="808080"/>
                </a:solidFill>
                <a:latin typeface="Microsoft YaHei"/>
                <a:ea typeface="Microsoft YaHei"/>
              </a:rPr>
              <a:t>GitHub / Gitee @WJLGraph ｜ 期待交流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
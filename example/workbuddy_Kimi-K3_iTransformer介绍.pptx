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ECL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Transformer</c:v>
                </c:pt>
                <c:pt idx="1">
                  <c:v>Reformer</c:v>
                </c:pt>
                <c:pt idx="2">
                  <c:v>Informer</c:v>
                </c:pt>
                <c:pt idx="3">
                  <c:v>Flowformer</c:v>
                </c:pt>
                <c:pt idx="4">
                  <c:v>Flashformer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35.6</c:v>
                </c:pt>
                <c:pt idx="1">
                  <c:v>38.4</c:v>
                </c:pt>
                <c:pt idx="2">
                  <c:v>30.5</c:v>
                </c:pt>
                <c:pt idx="3">
                  <c:v>21.3</c:v>
                </c:pt>
                <c:pt idx="4">
                  <c:v>27.8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Traffic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Transformer</c:v>
                </c:pt>
                <c:pt idx="1">
                  <c:v>Reformer</c:v>
                </c:pt>
                <c:pt idx="2">
                  <c:v>Informer</c:v>
                </c:pt>
                <c:pt idx="3">
                  <c:v>Flowformer</c:v>
                </c:pt>
                <c:pt idx="4">
                  <c:v>Flashformer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35.6</c:v>
                </c:pt>
                <c:pt idx="1">
                  <c:v>12.7</c:v>
                </c:pt>
                <c:pt idx="2">
                  <c:v>13.3</c:v>
                </c:pt>
                <c:pt idx="3">
                  <c:v>30.1</c:v>
                </c:pt>
                <c:pt idx="4">
                  <c:v>25.2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Weather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Transformer</c:v>
                </c:pt>
                <c:pt idx="1">
                  <c:v>Reformer</c:v>
                </c:pt>
                <c:pt idx="2">
                  <c:v>Informer</c:v>
                </c:pt>
                <c:pt idx="3">
                  <c:v>Flowformer</c:v>
                </c:pt>
                <c:pt idx="4">
                  <c:v>Flashformer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60.2</c:v>
                </c:pt>
                <c:pt idx="1">
                  <c:v>69.2</c:v>
                </c:pt>
                <c:pt idx="2">
                  <c:v>57.3</c:v>
                </c:pt>
                <c:pt idx="3">
                  <c:v>7.2</c:v>
                </c:pt>
                <c:pt idx="4">
                  <c:v>60.2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今天汇报 ICLR 2024 论文 iTransformer。它原封不动复用 Transformer 组件，只把注意力与前馈网络放到倒置的维度上，就在多个真实数据集取得最优，雷达图里六个数据集的平均误差都压过 PatchTST。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先看症结。传统做法把同一时刻的多个变量压进一个时间 token，量纲混杂、感受野只有一个时间步，排列不变的注意力被错用在时间维上，于是长窗口下性能退化、计算膨胀，线性模型反而反超。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已有工作可以分成四类：改注意力组件的、加序列预处理的、组件架构双改的。iTransformer 属于第四类，组件完全不动，只把使用维度倒过来，这是它与所有前作的本质区别，也意味着改造成本几乎为零。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方法只有三步：每条变量的完整序列独立嵌入成 variate token；注意力在变量之间计算，得分图就是变量相关性图；共享前馈网络逐 token 学习序列表示，最后由线性投影生成预测，位置编码也随之不再必要。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实验设置保证可比性：七个真实数据集覆盖电力、交通、气象与汇率场景，十个基线覆盖 Transformer 系、线性系与 TCN 系三条路线，统一九十六步回看与四档预测长度，所有结果取各预测长度的平均值。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主结果一目了然：ECL、Traffic、PEMS 这些高维数据集上，iTransformer MSE 全部最低。曾经的最优 PatchTST 在波动剧烈的 PEMS 上掉队，说明聚合整条序列做表示比局部 patch 更能应对快速波动。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把倒置框架套到五种 Transformer 变体上，MSE 全部下降：Weather 上最高降六成九，Traffic 上最低也有一成二。提升来自架构视角而非某个具体组件，高效注意力机制都能直接当插件用。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消融把分工验证得很清楚：变量维用注意力、时间维用前馈是最优组合；时间维也换成注意力后 Traffic 误差翻倍还多。右侧 CKA 分析显示倒置后学到的表示首尾层更一致，这正是低层预测任务偏好的表示形态。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泛化实验只用两成变量训练，直接预测全部变量，性能涨幅普遍小于通道独立策略，推理还只需一次前向。这给时序基础模型留了一条可行的路：不同变量数的数据可以放在一起训。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收尾看效率：相同设定下参数量、显存与吞吐都占优，变量越多优势越大。作者判断倒置可以作为时序预测的基础骨干，代码已经开源，下一步方向是大规模预训练，以及把框架推广到更多时序分析任务。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0080"/>
            <a:ext cx="11183112" cy="14630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Microsoft YaHei"/>
                <a:ea typeface="Microsoft YaHei"/>
              </a:rPr>
              <a:t>iTransformer：倒置维度让 Transformer</a:t>
            </a:r>
          </a:p>
          <a:p>
            <a:pPr algn="l"/>
            <a:r>
              <a:rPr sz="3600" b="1">
                <a:solidFill>
                  <a:srgbClr val="1F4E79"/>
                </a:solidFill>
                <a:latin typeface="Microsoft YaHei"/>
                <a:ea typeface="Microsoft YaHei"/>
              </a:rPr>
              <a:t>成为时间序列预测的有效骨干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40280"/>
            <a:ext cx="11183112" cy="7315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B3B3B"/>
                </a:solidFill>
                <a:latin typeface="Microsoft YaHei"/>
                <a:ea typeface="Microsoft YaHei"/>
              </a:rPr>
              <a:t>Yong Liu、Tengge Hu、Haoran Zhang 等 · 清华大学软件学院 &amp; 蚂蚁集团</a:t>
            </a:r>
          </a:p>
          <a:p>
            <a:pPr algn="l"/>
            <a:r>
              <a:rPr sz="1300" b="0">
                <a:solidFill>
                  <a:srgbClr val="808080"/>
                </a:solidFill>
                <a:latin typeface="Microsoft YaHei"/>
                <a:ea typeface="Microsoft YaHei"/>
              </a:rPr>
              <a:t>ICLR 2024 会议论文 · 文献汇报</a:t>
            </a:r>
          </a:p>
        </p:txBody>
      </p:sp>
      <p:pic>
        <p:nvPicPr>
          <p:cNvPr id="4" name="Picture 3" descr="fig1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689" y="3063240"/>
            <a:ext cx="4758716" cy="278892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02920" y="5943600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来源：作者 · Figure 1（六个数据集上的平均 MSE 对比）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症结不在 Transformer 本身：同一时间步的多变量混嵌抹掉了变量间相关性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83112" cy="9601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vanilla 做法：同一时刻的多个变量被混嵌为一个 temporal token，量纲与事件延迟被抹平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感受野仅限单个时间步，排列不变的注意力被错用在强顺序的时间维上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后果：长窗口下性能退化、计算量膨胀，简单线性模型在多个基准上反超</a:t>
            </a:r>
          </a:p>
        </p:txBody>
      </p:sp>
      <p:pic>
        <p:nvPicPr>
          <p:cNvPr id="4" name="Picture 3" descr="fig2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41" y="2395728"/>
            <a:ext cx="10879268" cy="347472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来源：作者 · Figure 2（vanilla Transformer 与 iTransformer 的对比）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既有改造集中在前三类，iTransformer 不改任何组件、只倒置维度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83112" cy="9601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第一类改注意力组件（Autoformer、Informer），第二类加序列预处理（PatchTST）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第三类组件与架构双改（Crossformer），改造成本越来越高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iTransformer 属第四类：组件原封不动，仅在倒置的维度上使用它们</a:t>
            </a:r>
          </a:p>
        </p:txBody>
      </p:sp>
      <p:pic>
        <p:nvPicPr>
          <p:cNvPr id="4" name="Picture 3" descr="fig3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60562"/>
            <a:ext cx="9445752" cy="2145051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来源：作者 · Figure 3（按组件与架构两个维度划分的四类预测器）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整条变量序列嵌入为 variate token：注意力管变量相关，FFN 管序列表示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83112" cy="9601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每条变量的完整序列独立嵌入为一个 variate token，聚合全局序列特征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注意力在变量 token 之间计算，注意力得分图天然对应变量间相关性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共享 FFN 逐 token 学习序列表示，预测由线性投影生成，无需位置编码</a:t>
            </a:r>
          </a:p>
        </p:txBody>
      </p:sp>
      <p:pic>
        <p:nvPicPr>
          <p:cNvPr id="4" name="Picture 3" descr="fig4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76" y="2395728"/>
            <a:ext cx="10005599" cy="347472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来源：作者 · Figure 4（iTransformer 总体结构）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实验覆盖 7 个真实数据集与 10 个主流基线，设置统一且可比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83112" cy="45720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统一 lookback T=96；预测长度 S∈{96,192,336,720}（PEMS 为 {12,24,36,48}），结果取各长度平均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74519"/>
          <a:ext cx="11183111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286"/>
                <a:gridCol w="8799825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类别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数据集（7 个）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ECL、ETT（4 子集）、Exchange、Traffic、Weather、Solar-Energy、PEMS（4 子集）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Transformer 基线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Autoformer、FEDformer、Stationary、Crossformer、PatchTST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线性基线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DLinear、TiDE、RLinear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TCN 基线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SCINet、TimesNet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257800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数据：论文 §4 Experiments 与 Table 1 表注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iTransformer 在 ECL、Traffic、PEMS 等高维数据集上取得最优 MSE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83112" cy="45720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多变量预测结果摘录（MSE，越低越好；加粗行为本文方法，lookback 固定 96）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74519"/>
          <a:ext cx="1118311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611"/>
                <a:gridCol w="1771582"/>
                <a:gridCol w="1771582"/>
                <a:gridCol w="1771582"/>
                <a:gridCol w="2103753"/>
              </a:tblGrid>
              <a:tr h="50945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ECL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Traffic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Weather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PEMS(Avg)</a:t>
                      </a:r>
                    </a:p>
                  </a:txBody>
                  <a:tcPr marL="73152" marR="73152" marT="27432" marB="27432">
                    <a:solidFill>
                      <a:srgbClr val="2E75B6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iTransformer（本文）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0.178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0.428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0.258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0.119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PatchTST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0.205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0.481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0.259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0.217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Crossformer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0.244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0.550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0.259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TimesNet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0.192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0.620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0.259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0.148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DLinear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0.625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0.265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0.320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RLinear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0.219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0.626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0.272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B3B3B"/>
                          </a:solidFill>
                          <a:latin typeface="Microsoft YaHei"/>
                          <a:ea typeface="Microsoft YaHei"/>
                        </a:rPr>
                        <a:t>0.514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623560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数据：论文 Table 1（各预测长度平均；最优值加粗）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倒置框架不改组件，即可给五类 Transformer 变体带来一致提升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83112" cy="45720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相对 MSE 降幅（Promotion，%）：Weather 上最高 69.2%，Traffic 上最低也有 12.7%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828800"/>
          <a:ext cx="105156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806440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数据：论文 Table 2（+Inverted 相对 Original 的 MSE 降幅）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消融证明「注意力管变量、FFN 管时间」的分工是最优组合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83112" cy="9601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时间维也换成注意力后，Traffic MSE 从 0.428 恶化到 0.913（Table 3）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去掉注意力或 FFN 任一组件，四个数据集上性能全面下滑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CKA 分析：倒置后首尾层表示更一致，正是预测任务偏好的表示形态</a:t>
            </a:r>
          </a:p>
        </p:txBody>
      </p:sp>
      <p:pic>
        <p:nvPicPr>
          <p:cNvPr id="4" name="Picture 3" descr="fig7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148"/>
            <a:ext cx="8531352" cy="2779878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来源：作者 · Figure 7（CKA 表示分析与变量相关性得分图可视化）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仅用 20% 变量训练即可泛化到全部变量，性能涨幅小于通道独立策略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11183112" cy="9601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变量分为五份，只用一份训练、直接预测全部变量，不做微调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iTransformer 的误差涨幅普遍小于 Channel Independence 策略，且推理一次出全部变量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任意 lookback 长度下倒置模型持续受益，长窗口不再退化</a:t>
            </a:r>
          </a:p>
        </p:txBody>
      </p:sp>
      <p:pic>
        <p:nvPicPr>
          <p:cNvPr id="4" name="Picture 3" descr="fig5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123283"/>
            <a:ext cx="9445752" cy="2019609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来源：作者 · Figure 5（未见变量上的泛化性能对比）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3112" cy="749808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</a:rPr>
              <a:t>结论：倒置是零组件改动的架构范式，可作为时序预测的基础骨干</a:t>
            </a:r>
          </a:p>
        </p:txBody>
      </p:sp>
      <p:pic>
        <p:nvPicPr>
          <p:cNvPr id="3" name="Picture 2" descr="fig10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37" y="1371600"/>
            <a:ext cx="9695477" cy="269748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502920" y="4160520"/>
            <a:ext cx="11183112" cy="256032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来源：作者 · Figure 10（Weather 上的效率对比：显存、吞吐、参数量）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0"/>
            <a:ext cx="11183112" cy="146304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相同设定下显存占用、训练吞吐与参数量全面占优，长序列优势随维度放大</a:t>
            </a:r>
          </a:p>
          <a:p>
            <a:pPr algn="l"/>
            <a:r>
              <a:rPr sz="1300" b="0">
                <a:solidFill>
                  <a:srgbClr val="3B3B3B"/>
                </a:solidFill>
                <a:latin typeface="Microsoft YaHei"/>
                <a:ea typeface="Microsoft YaHei"/>
              </a:rPr>
              <a:t>·  局限与展望：作者计划探索大规模预训练与更多时序分析任务</a:t>
            </a:r>
          </a:p>
          <a:p>
            <a:pPr algn="l"/>
            <a:r>
              <a:rPr sz="1300" b="0">
                <a:solidFill>
                  <a:srgbClr val="2E75B6"/>
                </a:solidFill>
                <a:latin typeface="Microsoft YaHei"/>
                <a:ea typeface="Microsoft YaHei"/>
              </a:rPr>
              <a:t>·  代码已开源：github.com/thuml/iTransformer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  <a:effectLst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
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iTransformer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ECL</c:v>
                </c:pt>
                <c:pt idx="1">
                  <c:v>Traffic</c:v>
                </c:pt>
                <c:pt idx="2">
                  <c:v>Weather</c:v>
                </c:pt>
                <c:pt idx="3">
                  <c:v>Solar-Energy</c:v>
                </c:pt>
                <c:pt idx="4">
                  <c:v>PEMS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0.178</c:v>
                </c:pt>
                <c:pt idx="1">
                  <c:v>0.428</c:v>
                </c:pt>
                <c:pt idx="2">
                  <c:v>0.258</c:v>
                </c:pt>
                <c:pt idx="3">
                  <c:v>0.233</c:v>
                </c:pt>
                <c:pt idx="4">
                  <c:v>0.119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最佳基线</c:v>
                </c:pt>
              </c:strCache>
            </c:strRef>
          </c:tx>
          <c:spPr>
            <a:solidFill>
              <a:srgbClr val="C9D4DE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ECL</c:v>
                </c:pt>
                <c:pt idx="1">
                  <c:v>Traffic</c:v>
                </c:pt>
                <c:pt idx="2">
                  <c:v>Weather</c:v>
                </c:pt>
                <c:pt idx="3">
                  <c:v>Solar-Energy</c:v>
                </c:pt>
                <c:pt idx="4">
                  <c:v>PEMS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0.192</c:v>
                </c:pt>
                <c:pt idx="1">
                  <c:v>0.61</c:v>
                </c:pt>
                <c:pt idx="2">
                  <c:v>0.259</c:v>
                </c:pt>
                <c:pt idx="3">
                  <c:v>0.261</c:v>
                </c:pt>
                <c:pt idx="4">
                  <c:v>0.121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 b="0">
                  <a:solidFill>
                    <a:srgbClr val="333333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DCE3EA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>
              <a:solidFill>
                <a:srgbClr val="595959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595959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这篇是 ICLR 2024 的工作，来自清华大学软件学院与蚂蚁集团。它不改 Transformer 的任何原生组件，只把注意力与前馈网络搬到各自该负责的维度，就在多个真实数据集上刷新了最优结果。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论文指出两个病灶：回看窗口变长时，时序维度的注意力既性能退化又计算爆炸；更关键的是，每个时序 token 把同一时刻的多个变量压进同一个嵌入，混掉了延迟事件与不同物理量测，学不到变量中心的表示，注意力图也随之失去意义。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论文把已有工作按改动位置分成四类：只改组件、只改架构、架构与组件都改，以及本文的第四类。前三类都在时序维度上做文章，没有回到注意力与 FFN 各自该负责什么；第四类只倒置维度，不碰任何原生组件。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核心思想是把时间序列倒过来看：每个变量的整条回看序列嵌成一个变量 token，于是注意力在变量维度上捕捉多变量相关性，而 FFN 与层归一化作用在每个变量 token 的时间维度上，负责学这条序列的非线性表示。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结构完全沿用 vanilla Transformer：输入嵌入、L 层 TrmBlock、投影输出；TrmBlock 依旧是层归一化、注意力、层归一化与前馈网络。改动只在注意力：Query、Key、Value 全部来自变量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实验在 8 个真实数据集上做，变量数从 7 个的 ETT 一直到 862 个的 Traffic；对比 10 个强基线，包含 Transformer 系、线性系与 TCN 系；预测长度按数据集取四档，回看长度固定为 96。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主结果：在高维数据集上 iTransformer 全面领先，Traffic 从最佳基线的 0.610 降到 0.428，Solar-Energy 与 ECL 也分别下降约一成。论文也给出反例：Exchange 与 ETT 上线性模型仍略优。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倒置框架对 5 种 Transformer 都有效，平均 MSE 降低幅度为 38.9%、36.1%、28.5%、16.8% 与 32.2%。未见变量泛化上，只用 20% 变量训练时误差涨幅仍小于通道独立方案。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机制上：CKA 相似度更高的模型误差更低，iTransformer 落在高 CKA、低 MSE 区域。消融也支持：把变量维注意力换成 FFN 后，Traffic 平均 MSE 从 0.428 升到 0.863。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效率方面，在 862 个变量的 Traffic 上，iTransformer 训练占用 7.50GB、265 毫秒每轮，启用高效训练策略后降到 1.28GB 与 91 毫秒，精度基本持平。局限是变量维注意力仍为平方复杂度。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ICLR 2024  ·  arXiv:2310.06625v4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iTransformer：倒置的 Transformer</a:t>
            </a:r>
          </a:p>
          <a:p>
            <a:pPr algn="l">
              <a:lnSpc>
                <a:spcPct val="116000"/>
              </a:lnSpc>
            </a:pPr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对时间序列预测同样有效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272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E75B6"/>
                </a:solidFill>
                <a:latin typeface="微软雅黑"/>
                <a:ea typeface="微软雅黑"/>
              </a:rPr>
              <a:t>Inverted Transformers Are Effective for Time Series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84448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Yong Liu, Tengge Hu, Haoran Zhang, Haixu Wu, Shiyu Wang, Lintao Ma, Mingsheng Long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清华大学软件学院（BNRist）· 蚂蚁集团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681728"/>
            <a:ext cx="5943600" cy="274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64608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论文结论：不改任何原生组件，只把注意力与 FFN 搬到各自该负责的维度，就让 Transformer 重回时序预测 SOTA。</a:t>
            </a:r>
          </a:p>
        </p:txBody>
      </p:sp>
      <p:pic>
        <p:nvPicPr>
          <p:cNvPr id="9" name="Picture 8" descr="fig1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145991"/>
            <a:ext cx="4315968" cy="2529440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7059168" y="4846320"/>
            <a:ext cx="4315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论文 Figure 1：8 个数据集上的平均 MSE（雷达半径越小越好），iTransformer 在各数据集上普遍收缩到内圈。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53328"/>
            <a:ext cx="10543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430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同一时刻的多个变量被压成一个 embedding，注意力学到的是无意义的关系图</a:t>
            </a:r>
          </a:p>
        </p:txBody>
      </p:sp>
      <p:pic>
        <p:nvPicPr>
          <p:cNvPr id="4" name="Picture 3" descr="fig2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46450"/>
            <a:ext cx="10543032" cy="3143307"/>
          </a:xfrm>
          <a:prstGeom prst="rect">
            <a:avLst/>
          </a:prstGeom>
          <a:effectLst/>
        </p:spPr>
      </p:pic>
      <p:sp>
        <p:nvSpPr>
          <p:cNvPr id="5" name="Rectangle 4"/>
          <p:cNvSpPr/>
          <p:nvPr/>
        </p:nvSpPr>
        <p:spPr>
          <a:xfrm>
            <a:off x="822960" y="4901184"/>
            <a:ext cx="10543032" cy="841248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5029200"/>
            <a:ext cx="100858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病灶一：回看窗口变长时性能退化、计算爆炸。　病灶二：时序 token 把延迟事件与不同物理量测混进同一个嵌入，学不到变量中心的表示，注意力图随之失去意义。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43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2（上：vanilla Transformer 视图；下：iTransformer 视图）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430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现有改造都停在时序维度上，没有回到组件该负责什么</a:t>
            </a:r>
          </a:p>
        </p:txBody>
      </p:sp>
      <p:pic>
        <p:nvPicPr>
          <p:cNvPr id="4" name="Picture 3" descr="fig3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10432"/>
            <a:ext cx="10543032" cy="2191214"/>
          </a:xfrm>
          <a:prstGeom prst="rect">
            <a:avLst/>
          </a:prstGeom>
          <a:effectLst/>
        </p:spPr>
      </p:pic>
      <p:sp>
        <p:nvSpPr>
          <p:cNvPr id="5" name="Rectangle 4"/>
          <p:cNvSpPr/>
          <p:nvPr/>
        </p:nvSpPr>
        <p:spPr>
          <a:xfrm>
            <a:off x="822960" y="3968496"/>
            <a:ext cx="2468880" cy="1517904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33087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(I) 只改组件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462272"/>
            <a:ext cx="21396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Autoformer、Informer 等仍然把注意力作用在时序 token 上，只替换注意力模块本身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296" y="3968496"/>
            <a:ext cx="2468880" cy="1517904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4133087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(II) 只改架构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4462272"/>
            <a:ext cx="21396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PatchTST 走通道独立，不显式建模变量之间的相关性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3968496"/>
            <a:ext cx="2468880" cy="1517904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4133087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(III) 架构与组件都改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4462272"/>
            <a:ext cx="21396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Crossformer 让时序不对齐的 patch 交互，带来不必要的噪声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87968" y="3968496"/>
            <a:ext cx="2468880" cy="1517904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4133087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(IV) 本文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4462272"/>
            <a:ext cx="21396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组件与架构都不改，只把注意力与 FFN 的工作维度倒置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79008"/>
            <a:ext cx="10543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3（按改动位置对 Transformer 预测器分类）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430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把每个变量的整条回看序列嵌成一个 token，让注意力在变量维度上捕捉多变量相关性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" y="1627632"/>
            <a:ext cx="2322575" cy="1664207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3856" y="1828800"/>
            <a:ext cx="27432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1828800"/>
            <a:ext cx="27432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2224" y="1828800"/>
            <a:ext cx="27432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828800"/>
            <a:ext cx="27432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50591" y="1828800"/>
            <a:ext cx="27432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9776" y="1828800"/>
            <a:ext cx="27432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3856" y="2157984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3040" y="2157984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92224" y="2157984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21408" y="2157984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0591" y="2157984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79776" y="2157984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3856" y="2487168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2487168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92224" y="2487168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21408" y="2487168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50591" y="2487168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79776" y="2487168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3856" y="2816352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63040" y="2816352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92224" y="2816352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21408" y="2816352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50591" y="2816352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79776" y="2816352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474720"/>
            <a:ext cx="23225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传统视图：每个 token 是一个时间戳，混着 N 个变量 → T 个时序 token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22592" y="1627632"/>
            <a:ext cx="1664207" cy="2322575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23760" y="1828800"/>
            <a:ext cx="27432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1828800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82128" y="1828800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11312" y="1828800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23760" y="2157984"/>
            <a:ext cx="27432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52944" y="2157984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82128" y="2157984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11312" y="2157984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23760" y="2487168"/>
            <a:ext cx="27432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52944" y="2487168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82128" y="2487168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11312" y="2487168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23760" y="2816352"/>
            <a:ext cx="27432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52944" y="2816352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82128" y="2816352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11312" y="2816352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23760" y="3145536"/>
            <a:ext cx="27432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52944" y="3145536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82128" y="3145536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11312" y="3145536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23760" y="3474720"/>
            <a:ext cx="27432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52944" y="3474720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82128" y="3474720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11312" y="3474720"/>
            <a:ext cx="274320" cy="274320"/>
          </a:xfrm>
          <a:prstGeom prst="rect">
            <a:avLst/>
          </a:prstGeom>
          <a:solidFill>
            <a:srgbClr val="CB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2592" y="4133087"/>
            <a:ext cx="16642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倒置视图：每个 token 是一个变量，装着 T 个时间点 → N 个变量 token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50208" y="248716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Invert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" y="4828032"/>
            <a:ext cx="10543032" cy="1152144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33856" y="4992624"/>
            <a:ext cx="99212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4E79"/>
                </a:solidFill>
                <a:latin typeface="Consolas"/>
                <a:ea typeface="Consolas"/>
              </a:rPr>
              <a:t>LayerNorm：x̂ = (x − μ) / σ　（对每个变量 token 的时间维度归一化）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4E79"/>
                </a:solidFill>
                <a:latin typeface="Consolas"/>
                <a:ea typeface="Consolas"/>
              </a:rPr>
              <a:t>Attention：softmax(QKᵀ / √d̄)·V　（Q、K、V 全部来自变量 token，相关性图可解释）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430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iTransformer 只倒置维度：变量 token 做注意力，每个变量 token 各自过 FFN</a:t>
            </a:r>
          </a:p>
        </p:txBody>
      </p:sp>
      <p:pic>
        <p:nvPicPr>
          <p:cNvPr id="4" name="Picture 3" descr="fig4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23" y="1316736"/>
            <a:ext cx="10268904" cy="356616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822960" y="4974336"/>
            <a:ext cx="512064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结构完全不变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Input → Embedding → L 层 TrmBlock → Projection；TrmBlock = LayerNorm → Multivariate Attention → LayerNorm → Feed-forward。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4974336"/>
            <a:ext cx="512064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只换工作维度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Dense、Act &amp; Drop 与相关性图都作用在变量 token 上；LayerNorm 与 FFN 则作用在每个变量 token 的时间维度上。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25312"/>
            <a:ext cx="10543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4（(a) 嵌入与投影；(b) 多变量注意力；(c) 前馈与归一化；(d) 层归一化公式）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430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在 8 个真实数据集与 10 个强基线上验证，回看长度固定为 96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81328"/>
          <a:ext cx="667512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40"/>
                <a:gridCol w="1133856"/>
                <a:gridCol w="1517904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数据集</a:t>
                      </a:r>
                    </a:p>
                  </a:txBody>
                  <a:tcPr marL="91440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变量数 Dim</a:t>
                      </a:r>
                    </a:p>
                  </a:txBody>
                  <a:tcPr marL="91440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采样频率</a:t>
                      </a:r>
                    </a:p>
                  </a:txBody>
                  <a:tcPr marL="91440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领域</a:t>
                      </a:r>
                    </a:p>
                  </a:txBody>
                  <a:tcPr marL="91440" marR="73152" marT="18288" marB="1828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ETT（ETTh1/2、ETTm1/2）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每小时 / 15 分钟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电力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Exchange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每日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经济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Weather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 分钟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气象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Solar-Energy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137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 分钟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能源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PEMS（4 个子集）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170 – 883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 分钟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交通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Market（6 个子集）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285 – 759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 分钟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交易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ECL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321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每小时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电力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Traffic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862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每小时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交通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82127" y="1481328"/>
            <a:ext cx="3483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10 个基线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2127" y="1828800"/>
            <a:ext cx="3483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Transformer 系：Autoformer、FEDformer、Stationary、Crossformer、PatchTST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线性系：DLinear、TiDE、RLinear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TCN 系：SCINet、TimesNet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882127" y="3310128"/>
            <a:ext cx="3483864" cy="1463040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7" y="3456432"/>
            <a:ext cx="31181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指标：MSE / MAE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回看长度固定 T = 96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预测长度：{96, 192, 336, 720}；PEMS 为短长度档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543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Table 4（数据集描述）与 §4.1（基线与实验设置）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430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在高维数据集上把 MSE 压到最佳基线之下：Traffic 0.428 对 0.610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627632"/>
          <a:ext cx="75895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613648" y="1627632"/>
            <a:ext cx="2752344" cy="822960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96528" y="1719072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>
                <a:solidFill>
                  <a:srgbClr val="C00000"/>
                </a:solidFill>
                <a:latin typeface="Consolas"/>
                <a:ea typeface="Consolas"/>
              </a:rPr>
              <a:t>−29.8%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6528" y="2057400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Traffic：0.428 对最佳基线 0.610</a:t>
            </a:r>
          </a:p>
        </p:txBody>
      </p:sp>
      <p:sp>
        <p:nvSpPr>
          <p:cNvPr id="8" name="Rectangle 7"/>
          <p:cNvSpPr/>
          <p:nvPr/>
        </p:nvSpPr>
        <p:spPr>
          <a:xfrm>
            <a:off x="8613648" y="2587752"/>
            <a:ext cx="2752344" cy="822960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679192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>
                <a:solidFill>
                  <a:srgbClr val="C00000"/>
                </a:solidFill>
                <a:latin typeface="Consolas"/>
                <a:ea typeface="Consolas"/>
              </a:rPr>
              <a:t>−10.7%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3017520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Solar-Energy：0.233 对 Stationary 的 0.261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13648" y="3547872"/>
            <a:ext cx="2752344" cy="822960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3639312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>
                <a:solidFill>
                  <a:srgbClr val="C00000"/>
                </a:solidFill>
                <a:latin typeface="Consolas"/>
                <a:ea typeface="Consolas"/>
              </a:rPr>
              <a:t>−7.3%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3977639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ECL：0.178 对 TimesNet 的 0.192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13648" y="4507992"/>
            <a:ext cx="2752344" cy="822960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4599432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>
                <a:solidFill>
                  <a:srgbClr val="C00000"/>
                </a:solidFill>
                <a:latin typeface="Consolas"/>
                <a:ea typeface="Consolas"/>
              </a:rPr>
              <a:t>−1.7%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4937760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PEMS：0.119 对 SCINet 的 0.121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59552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同一张表里也有反例：Exchange 上 iTransformer 0.360 略高于 DLinear 的 0.354，ETT(Avg) 上 0.383 略高于 RLinear 的 0.380。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88736"/>
            <a:ext cx="10543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Table 1（各数据集在各预测长度上的平均 MSE；回看长度 T = 96）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430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倒置框架对 5 种 Transformer 都有效，平均 MSE 降低 16.8% – 38.9%</a:t>
            </a:r>
          </a:p>
        </p:txBody>
      </p:sp>
      <p:pic>
        <p:nvPicPr>
          <p:cNvPr id="4" name="Picture 3" descr="fig5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88073"/>
            <a:ext cx="10543032" cy="2254220"/>
          </a:xfrm>
          <a:prstGeom prst="rect">
            <a:avLst/>
          </a:prstGeom>
          <a:effectLst/>
        </p:spPr>
      </p:pic>
      <p:sp>
        <p:nvSpPr>
          <p:cNvPr id="5" name="Rectangle 4"/>
          <p:cNvSpPr/>
          <p:nvPr/>
        </p:nvSpPr>
        <p:spPr>
          <a:xfrm>
            <a:off x="822960" y="3986784"/>
            <a:ext cx="2011680" cy="859536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407822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435254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1">
                <a:solidFill>
                  <a:srgbClr val="C00000"/>
                </a:solidFill>
                <a:latin typeface="Consolas"/>
                <a:ea typeface="Consolas"/>
              </a:rPr>
              <a:t>38.9%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2656" y="3986784"/>
            <a:ext cx="2011680" cy="859536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407822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Reformer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435254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1">
                <a:solidFill>
                  <a:srgbClr val="C00000"/>
                </a:solidFill>
                <a:latin typeface="Consolas"/>
                <a:ea typeface="Consolas"/>
              </a:rPr>
              <a:t>36.1%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02352" y="3986784"/>
            <a:ext cx="2011680" cy="859536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407822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Informer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435254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1">
                <a:solidFill>
                  <a:srgbClr val="C00000"/>
                </a:solidFill>
                <a:latin typeface="Consolas"/>
                <a:ea typeface="Consolas"/>
              </a:rPr>
              <a:t>28.5%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42048" y="3986784"/>
            <a:ext cx="2011680" cy="859536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407822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Flowformer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35254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1">
                <a:solidFill>
                  <a:srgbClr val="C00000"/>
                </a:solidFill>
                <a:latin typeface="Consolas"/>
                <a:ea typeface="Consolas"/>
              </a:rPr>
              <a:t>16.8%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81744" y="3986784"/>
            <a:ext cx="2011680" cy="859536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407822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Flashformer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435254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900" b="1">
                <a:solidFill>
                  <a:srgbClr val="C00000"/>
                </a:solidFill>
                <a:latin typeface="Consolas"/>
                <a:ea typeface="Consolas"/>
              </a:rPr>
              <a:t>32.2%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92624"/>
            <a:ext cx="105430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平均 MSE 降低幅度（相对各自的原生版本，Table 2）：Transformer 38.9%、Reformer 36.1%、Informer 28.5%、Flowformer 16.8%、Flashformer 32.2%。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431536"/>
            <a:ext cx="105430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5541264"/>
            <a:ext cx="10085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F4E79"/>
                </a:solidFill>
                <a:latin typeface="微软雅黑"/>
                <a:ea typeface="微软雅黑"/>
              </a:rPr>
              <a:t>未见变量泛化：只用 20% 的变量训练，再直接预测全部变量，iTransformer 的 MSE 涨幅普遍小于通道独立方案（Figure 5）。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108192"/>
            <a:ext cx="10543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5（未见变量泛化）与 §4.2 / Table 2（性能提升）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430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FFN 更适合学序列表示：CKA 相似度更高的 iTransformer 误差也更低</a:t>
            </a:r>
          </a:p>
        </p:txBody>
      </p:sp>
      <p:pic>
        <p:nvPicPr>
          <p:cNvPr id="4" name="Picture 3" descr="fig7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0431"/>
            <a:ext cx="10543032" cy="3031296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822960" y="4645152"/>
            <a:ext cx="33467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Consolas"/>
                <a:ea typeface="Consolas"/>
              </a:rPr>
              <a:t>01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左面板：iTransformer 落在高 CKA、低 MSE 的区域，Transformer 与 Flowformer 停在高 MSE 一侧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645152"/>
            <a:ext cx="33467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Consolas"/>
                <a:ea typeface="Consolas"/>
              </a:rPr>
              <a:t>02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右面板：浅层注意力图接近回看序列的相关性，越深越逼近未来序列的相关性，注意力因此可解释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645152"/>
            <a:ext cx="33467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Consolas"/>
                <a:ea typeface="Consolas"/>
              </a:rPr>
              <a:t>03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消融：把变量维的注意力换成 FFN，Traffic 的平均 MSE 从 0.428 升到 0.863；去掉 FFN 则为 0.461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3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7；消融数字见 Table 3（四个数据集的平均 MSE）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430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高效训练策略把 Traffic 的训练内存从 7.50GB 压到 1.28GB，精度基本不变</a:t>
            </a:r>
          </a:p>
        </p:txBody>
      </p:sp>
      <p:pic>
        <p:nvPicPr>
          <p:cNvPr id="4" name="Picture 3" descr="fig10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20419"/>
            <a:ext cx="7680960" cy="2137000"/>
          </a:xfrm>
          <a:prstGeom prst="rect">
            <a:avLst/>
          </a:prstGeom>
          <a:effectLst/>
        </p:spPr>
      </p:pic>
      <p:sp>
        <p:nvSpPr>
          <p:cNvPr id="5" name="Rectangle 4"/>
          <p:cNvSpPr/>
          <p:nvPr/>
        </p:nvSpPr>
        <p:spPr>
          <a:xfrm>
            <a:off x="8796528" y="1371600"/>
            <a:ext cx="2569464" cy="841248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1">
                <a:solidFill>
                  <a:srgbClr val="1F4E79"/>
                </a:solidFill>
                <a:latin typeface="Consolas"/>
                <a:ea typeface="Consolas"/>
              </a:rPr>
              <a:t>7.50GB / 265ms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801368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</a:rPr>
              <a:t>iTransformer 在 862 变量的 Traffic 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8796528" y="2340864"/>
            <a:ext cx="2569464" cy="841248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2432304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1">
                <a:solidFill>
                  <a:srgbClr val="1F4E79"/>
                </a:solidFill>
                <a:latin typeface="Consolas"/>
                <a:ea typeface="Consolas"/>
              </a:rPr>
              <a:t>1.28GB / 91ms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770632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</a:rPr>
              <a:t>启用按比例采样变量的高效训练策略后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96528" y="3310128"/>
            <a:ext cx="2569464" cy="841248"/>
          </a:xfrm>
          <a:prstGeom prst="rect">
            <a:avLst/>
          </a:prstGeom>
          <a:solidFill>
            <a:srgbClr val="F4F7FA"/>
          </a:solidFill>
          <a:ln w="9525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340156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1">
                <a:solidFill>
                  <a:srgbClr val="1F4E79"/>
                </a:solidFill>
                <a:latin typeface="Consolas"/>
                <a:ea typeface="Consolas"/>
              </a:rPr>
              <a:t>8.58GB / 635ms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739896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95959"/>
                </a:solidFill>
                <a:latin typeface="微软雅黑"/>
                <a:ea typeface="微软雅黑"/>
              </a:rPr>
              <a:t>同规模下的 PatchTST；Crossformer 为 9.74GB / 702ms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334670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贡献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不改任何原生组件，只倒置维度即取得 SOTA，并让 Transformer 家族整体受益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572000"/>
            <a:ext cx="334670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局限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变量维注意力仍是 O(N²)；Exchange 与 ETT 上线性模型仍有微弱优势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572000"/>
            <a:ext cx="334670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指向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倒置视角可作时序预测通用骨干，并指向大规模预训练与更多时序任务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53328"/>
            <a:ext cx="10543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10 与 §D（效率分析）；结论与展望见 §5。　References: Liu Y, Hu T, Zhang H, et al. ICLR 2024, arXiv:2310.06625v4.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
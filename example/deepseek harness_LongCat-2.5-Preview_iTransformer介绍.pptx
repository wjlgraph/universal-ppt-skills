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iTransformer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Sheet1!$A$2:$A$8</c:f>
              <c:strCache>
                <c:ptCount val="7"/>
                <c:pt idx="0">
                  <c:v>ECL</c:v>
                </c:pt>
                <c:pt idx="1">
                  <c:v>Traffic</c:v>
                </c:pt>
                <c:pt idx="2">
                  <c:v>Weather</c:v>
                </c:pt>
                <c:pt idx="3">
                  <c:v>Solar</c:v>
                </c:pt>
                <c:pt idx="4">
                  <c:v>PEMS</c:v>
                </c:pt>
                <c:pt idx="5">
                  <c:v>Exchange</c:v>
                </c:pt>
                <c:pt idx="6">
                  <c:v>ETT(Avg)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0.178</c:v>
                </c:pt>
                <c:pt idx="1">
                  <c:v>0.428</c:v>
                </c:pt>
                <c:pt idx="2">
                  <c:v>0.258</c:v>
                </c:pt>
                <c:pt idx="3">
                  <c:v>0.233</c:v>
                </c:pt>
                <c:pt idx="4">
                  <c:v>0.119</c:v>
                </c:pt>
                <c:pt idx="5">
                  <c:v>0.36</c:v>
                </c:pt>
                <c:pt idx="6">
                  <c:v>0.383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PatchTST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Sheet1!$A$2:$A$8</c:f>
              <c:strCache>
                <c:ptCount val="7"/>
                <c:pt idx="0">
                  <c:v>ECL</c:v>
                </c:pt>
                <c:pt idx="1">
                  <c:v>Traffic</c:v>
                </c:pt>
                <c:pt idx="2">
                  <c:v>Weather</c:v>
                </c:pt>
                <c:pt idx="3">
                  <c:v>Solar</c:v>
                </c:pt>
                <c:pt idx="4">
                  <c:v>PEMS</c:v>
                </c:pt>
                <c:pt idx="5">
                  <c:v>Exchange</c:v>
                </c:pt>
                <c:pt idx="6">
                  <c:v>ETT(Avg)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0.205</c:v>
                </c:pt>
                <c:pt idx="1">
                  <c:v>0.481</c:v>
                </c:pt>
                <c:pt idx="2">
                  <c:v>0.259</c:v>
                </c:pt>
                <c:pt idx="3">
                  <c:v>0.27</c:v>
                </c:pt>
                <c:pt idx="4">
                  <c:v>0.217</c:v>
                </c:pt>
                <c:pt idx="5">
                  <c:v>0.367</c:v>
                </c:pt>
                <c:pt idx="6">
                  <c:v>0.381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DLinear</c:v>
                </c:pt>
              </c:strCache>
            </c:strRef>
          </c:tx>
          <c:spPr>
            <a:solidFill>
              <a:srgbClr val="9DC3E6"/>
            </a:solidFill>
          </c:spPr>
          <c:cat>
            <c:strRef>
              <c:f>Sheet1!$A$2:$A$8</c:f>
              <c:strCache>
                <c:ptCount val="7"/>
                <c:pt idx="0">
                  <c:v>ECL</c:v>
                </c:pt>
                <c:pt idx="1">
                  <c:v>Traffic</c:v>
                </c:pt>
                <c:pt idx="2">
                  <c:v>Weather</c:v>
                </c:pt>
                <c:pt idx="3">
                  <c:v>Solar</c:v>
                </c:pt>
                <c:pt idx="4">
                  <c:v>PEMS</c:v>
                </c:pt>
                <c:pt idx="5">
                  <c:v>Exchange</c:v>
                </c:pt>
                <c:pt idx="6">
                  <c:v>ETT(Avg)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0.212</c:v>
                </c:pt>
                <c:pt idx="1">
                  <c:v>0.625</c:v>
                </c:pt>
                <c:pt idx="2">
                  <c:v>0.265</c:v>
                </c:pt>
                <c:pt idx="3">
                  <c:v>0.33</c:v>
                </c:pt>
                <c:pt idx="4">
                  <c:v>0.32</c:v>
                </c:pt>
                <c:pt idx="5">
                  <c:v>0.354</c:v>
                </c:pt>
                <c:pt idx="6">
                  <c:v>0.442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"/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000">
          <a:solidFill>
            <a:srgbClr val="333333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MSE 相对降低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Sheet1!$A$2:$A$6</c:f>
              <c:strCache>
                <c:ptCount val="5"/>
                <c:pt idx="0">
                  <c:v>Transformer</c:v>
                </c:pt>
                <c:pt idx="1">
                  <c:v>Reformer</c:v>
                </c:pt>
                <c:pt idx="2">
                  <c:v>Informer</c:v>
                </c:pt>
                <c:pt idx="3">
                  <c:v>Flowformer</c:v>
                </c:pt>
                <c:pt idx="4">
                  <c:v>Flashformer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38.9</c:v>
                </c:pt>
                <c:pt idx="1">
                  <c:v>36.1</c:v>
                </c:pt>
                <c:pt idx="2">
                  <c:v>28.5</c:v>
                </c:pt>
                <c:pt idx="3">
                  <c:v>16.8</c:v>
                </c:pt>
                <c:pt idx="4">
                  <c:v>32.2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>
                  <a:solidFill>
                    <a:srgbClr val="1F4E79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333333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本页介绍论文基本信息。iTransformer 发表于 ICLR 2024，由清华大学软件学院与蚂蚁集团合作完成。它只改变 Transformer 组件的使用维度，不修改任何基本组件，就在多变量时间序列预测上取得了新的最优结果。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已有预测器把同一时刻的多个变量混成一个 Token 再建模时间依赖，导致变量语义混淆、长窗口性能退化、计算量平方增长。论文的核心判断是：问题不在 Transformer，而在于组件被用错了维度。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倒置的核心只有一句话：把整条变量序列嵌入成一个 Token。这样注意力自然作用在变量维，直接学习多变量相关性；FFN 作用在时间维，为每个变量学习非线性序列表示。Transformer 的基本组件一个都没改，只是换了作用维度。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前向流程是：输入矩阵先转置，把每个变量的整条序列嵌入成一个向量作为 Token；随后送入若干倒置 Block，自注意力在变量维建模相关性，FFN 在时间维学习序列表示；最后线性投影得到预测结果。Token 数等于变量数，与回看长度无关。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三个组件的分工被重新定义：LayerNorm 逐变量归一化，消除量纲差异；自注意力在变量维建模多变量相关性；FFN 在时间维学习序列表示。论文通过消融实验证明，这一分工组合优于其他任意搭配。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实验覆盖 7 个多变量数据集，变量数从 7 维到 862 维，并加入 PEMS 交通数据；基线共 10 个，涵盖 Transformer、线性模型与 TCN 三类。所有模型固定回看长度 96，在多个预测长度上取平均以保证公平。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图中对比 iTransformer 与两个代表性基线的平均 MSE：iTransformer 在各数据集上均最优或持平，且变量维度越高优势越明显。论文指出，显式建模多变量关系的 Crossformer 仍不如它，说明倒置视角更有效。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泛化性有两条证据。一是跨变量泛化：只用 20% 变量训练即可预测全部变量，说明 FFN 学到的序列表示能跨变量迁移。二是 Lookback 灵活性：窗口从 48 增到 720 时倒置框架持续改善，原生 Transformer 并不受益。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消融实验替换注意力与 FFN 的作用维度：只有变量维用注意力、时间维用 FFN 时最优，原生组合在 Traffic 上 MSE 高达 0.913。CKA 分析显示倒置模型表示相似度更高，注意力图也具备可解释性。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总结三点：倒置视角提供了新范式且组件无需修改；性能、泛化与效率可以兼得，尤其适合高维变量；注意力矩阵直接对应多变量相关性。论文认为它有潜力成为多变量时序基础模型的统一骨干。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49640" y="1783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53144" y="1783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56648" y="1783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60152" y="1783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63656" y="1783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49640" y="23865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53144" y="23865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56648" y="23865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60152" y="23865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63656" y="23865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49640" y="29900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53144" y="29900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56648" y="29900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360152" y="29900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963656" y="29900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49640" y="359359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53144" y="359359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56648" y="359359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360152" y="359359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63656" y="359359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49640" y="41970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53144" y="41970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56648" y="41970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60152" y="41970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963656" y="41970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184708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ICLR 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2240280"/>
            <a:ext cx="7315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iTransformer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182112"/>
            <a:ext cx="7040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Inverted Transformers Are Effective for Time Series Forecasting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315968"/>
            <a:ext cx="7040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Yong Liu, Tengge Hu, Haoran Zhang, Haixu Wu, et al.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Tsinghua University  ·  Ant Group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53212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论文原文：arXiv:2310.06625v4  ·  Code: github.com/thuml/iTransformer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Transformer 在时间序列中面临性能退化与计算爆炸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691640"/>
            <a:ext cx="329184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1" y="1901952"/>
            <a:ext cx="27889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时序 Token 混合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同一时间戳的多个变量被压入同一个 Token，
变量语义被混淆，注意力图缺乏可解释性。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91640"/>
            <a:ext cx="329184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90872" y="1901952"/>
            <a:ext cx="27889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Lookback 性能退化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回看窗口增大时注意力被稀释，
MSE 不降反升，长历史反而成为负担。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691640"/>
            <a:ext cx="329184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1" y="1901952"/>
            <a:ext cx="27889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计算复杂度爆炸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自注意力复杂度随回看长度平方增长，
高维变量场景下训练代价难以承受。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977639"/>
            <a:ext cx="10637215" cy="105156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977639"/>
            <a:ext cx="10088575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不是 Transformer 无效，而是使用方式不当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00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来源：Liu et al., iTransformer, ICLR 2024 · Abstract / §1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核心思想：倒置维度上的 Transformer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737360"/>
            <a:ext cx="4754880" cy="310896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1965960"/>
            <a:ext cx="41605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Vanilla Transformer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Token = 某一时刻的全部变量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注意力作用于时间维（Temporal Token）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FFN 作用于变量维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变量被混合，难以学习以变量为中心的表示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742432" y="3035808"/>
            <a:ext cx="713232" cy="50292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656832" y="1737360"/>
            <a:ext cx="4754880" cy="310896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965960"/>
            <a:ext cx="41605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iTransformer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Token = 某一个变量的整条序列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注意力作用于变量维（Variate Token）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FFN 作用于时间维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· 变量不再混合，注意力即多变量相关矩阵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组件完全不变，只交换注意力与 FFN 的作用维度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来源：Liu et al., iTransformer, ICLR 2024 · §3 Method / Figure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iTransformer 架构概览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51763" y="1874519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3203" y="1874519"/>
            <a:ext cx="1298448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X ∈ R^{T×N}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78811" y="2450592"/>
            <a:ext cx="228599" cy="219456"/>
          </a:xfrm>
          <a:prstGeom prst="rightArrow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2653131" y="1874519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4571" y="1874519"/>
            <a:ext cx="1298448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转置 + 嵌入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变量序列 → 向量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80179" y="2450592"/>
            <a:ext cx="228599" cy="219456"/>
          </a:xfrm>
          <a:prstGeom prst="rightArrow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4454499" y="1874519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5939" y="1874519"/>
            <a:ext cx="1298448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变量 Token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N 个 Token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1547" y="2450592"/>
            <a:ext cx="228599" cy="219456"/>
          </a:xfrm>
          <a:prstGeom prst="rightArrow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255867" y="1874519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7307" y="1874519"/>
            <a:ext cx="1298448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L × 倒置 Block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注意力 + FFN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82915" y="2450592"/>
            <a:ext cx="228599" cy="219456"/>
          </a:xfrm>
          <a:prstGeom prst="rightArrow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057235" y="1874519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8675" y="1874519"/>
            <a:ext cx="1298448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线性投影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映射到预测长度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584283" y="2450592"/>
            <a:ext cx="228599" cy="219456"/>
          </a:xfrm>
          <a:prstGeom prst="rightArrow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858603" y="1874519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50043" y="1874519"/>
            <a:ext cx="1298448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Ŷ ∈ R^{S×N}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2044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倒置 Block 内部：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187" y="3931920"/>
            <a:ext cx="2331720" cy="658368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187" y="3931920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LayerNorm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201771" y="4151376"/>
            <a:ext cx="301752" cy="219456"/>
          </a:xfrm>
          <a:prstGeom prst="rightArrow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3558387" y="3931920"/>
            <a:ext cx="2331720" cy="658368"/>
          </a:xfrm>
          <a:prstGeom prst="roundRect">
            <a:avLst>
              <a:gd name="adj" fmla="val 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58387" y="3931920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变量维自注意力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44971" y="4151376"/>
            <a:ext cx="301752" cy="219456"/>
          </a:xfrm>
          <a:prstGeom prst="rightArrow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301587" y="3931920"/>
            <a:ext cx="2331720" cy="658368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1587" y="3931920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LayerNorm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688171" y="4151376"/>
            <a:ext cx="301752" cy="219456"/>
          </a:xfrm>
          <a:prstGeom prst="rightArrow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9044787" y="3931920"/>
            <a:ext cx="2331720" cy="658368"/>
          </a:xfrm>
          <a:prstGeom prst="roundRect">
            <a:avLst>
              <a:gd name="adj" fmla="val 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44787" y="3931920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时间维 FFN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98348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嵌入层保留每个变量的整条时间序列作为 Token，因此 Token 数量等于变量数 N，与回看长度 T 解耦——这是后文泛化性与 Lookback 灵活性的结构根源。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400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来源：Liu et al., iTransformer, ICLR 2024 · §3 Method / Figure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倒置组件：各司其职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737360"/>
            <a:ext cx="3291840" cy="3200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993392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LayerNorm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逐变量归一化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971800"/>
            <a:ext cx="2743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对每个变量 Token 独立做归一化，
消除不同变量之间的量纲与分布差异，
让跨变量注意力不被尺度主导。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737360"/>
            <a:ext cx="3291840" cy="3200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59" y="1993392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Self-Attention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作用于变量维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59" y="2971800"/>
            <a:ext cx="2743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N 个变量 Token 相互注意，
注意力矩阵即多变量相关矩阵，
天然具备可解释性。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737360"/>
            <a:ext cx="3291840" cy="3200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993392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Feed-Forward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作用于时间维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971800"/>
            <a:ext cx="2743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对每个变量 Token 沿时间维做非线性变换，
神经元充当滤波器学习序列内在模式，
该表示可在变量间迁移。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6636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注意力的职责从“时间依赖”转为“多变量相关”，FFN 的职责从“变量混合”转为“序列表示”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400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来源：Liu et al., iTransformer, ICLR 2024 · §3 Method / §4.3 Model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实验设置：7 个数据集 × 10 个基线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数据集（覆盖能源、交通、气象、经济四类场景）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1378523" cy="8686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378523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ETT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7 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20355" y="2057400"/>
            <a:ext cx="1378523" cy="8686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20355" y="2057400"/>
            <a:ext cx="1378523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ECL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321 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63470" y="2057400"/>
            <a:ext cx="1378523" cy="8686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63470" y="2057400"/>
            <a:ext cx="1378523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Traffic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862 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6585" y="2057400"/>
            <a:ext cx="1378523" cy="8686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6585" y="2057400"/>
            <a:ext cx="1378523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Weather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21 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701" y="2057400"/>
            <a:ext cx="1378523" cy="8686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701" y="2057400"/>
            <a:ext cx="1378523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Solar-Energy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137 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92816" y="2057400"/>
            <a:ext cx="1378523" cy="8686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92816" y="2057400"/>
            <a:ext cx="1378523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PEMS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170–358 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35931" y="2057400"/>
            <a:ext cx="1378523" cy="8686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35931" y="2057400"/>
            <a:ext cx="1378523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Exchange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8 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0040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10 个基线（3 类架构）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56616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3730752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Transformer 类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Autoformer · FEDformer
Stationary · Crossformer
PatchTST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56616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3730752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线性类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DLinear · TiDE
RLinear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56616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1" y="3730752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TCN 类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SCINet · TimesNet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1208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统一协议：固定回看长度 T = 96；PEMS 预测长度 {12, 24, 36, 48}，其余数据集预测长度 {96, 192, 336, 720}，结果按预测长度取平均。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00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来源：Liu et al., iTransformer, ICLR 2024 · §4.1 / Table 1 / Table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iTransformer 在 7 个数据集上达到 SOTA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77240" y="1645920"/>
          <a:ext cx="685800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001000" y="1645920"/>
            <a:ext cx="3410712" cy="306324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182880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关键 MSE（预测长度取平均）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24028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ECL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22402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0.178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69748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Traffic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26974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0.428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15468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Weather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31546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0.258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61188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Solar-Energy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36118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0.233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06908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40690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0.119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37760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iTransformer 在高维数据集上优势尤为明显：Traffic 上较 PatchTST 降低 11%，PEMS 上较 PatchTST 降低 45%；Crossformer 显式建模多变量相关性却仍逊于 iTransformer。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00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来源：Liu et al., iTransformer, ICLR 2024 · Table 1（MSE 为各预测长度平均）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泛化能力：跨变量 + Lookback 灵活性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77240" y="1691640"/>
          <a:ext cx="55778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" y="489204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倒置框架对 5 种 Transformer 变体一致有效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691640"/>
            <a:ext cx="4690872" cy="310896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95160" y="1901952"/>
            <a:ext cx="41605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跨变量泛化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把每个数据集的变量分成 5 折，只用其中 20% 的变量训练，直接预测全部变量而不微调。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iTransformers 性能下降更小，且一次前向即可预测全部变量；Channel Independence 需要逐变量推理，耗时长。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 FFN 学到的序列表示可在变量间迁移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4924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Lookback 灵活性：回看长度 T ∈ {48, 96, 192, 336, 720}（固定预测长度 96）——原生 Transformer 的性能并不随窗口增大而改善，倒置框架则能持续受益于更长的历史窗口。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00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来源：Liu et al., iTransformer, ICLR 2024 · Table 2 / Figure 5 / Figure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模型分析：消融实验与表示学习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691640"/>
          <a:ext cx="85953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115568"/>
                <a:gridCol w="1115568"/>
                <a:gridCol w="1124712"/>
                <a:gridCol w="1124712"/>
              </a:tblGrid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</a:t>
                      </a:r>
                    </a:p>
                  </a:txBody>
                  <a:tcPr marL="73152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Variate</a:t>
                      </a:r>
                    </a:p>
                  </a:txBody>
                  <a:tcPr marL="73152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Temporal</a:t>
                      </a:r>
                    </a:p>
                  </a:txBody>
                  <a:tcPr marL="73152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ECL</a:t>
                      </a:r>
                    </a:p>
                  </a:txBody>
                  <a:tcPr marL="73152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Traffic</a:t>
                      </a:r>
                    </a:p>
                  </a:txBody>
                  <a:tcPr marL="73152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Weather</a:t>
                      </a:r>
                    </a:p>
                  </a:txBody>
                  <a:tcPr marL="73152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Solar</a:t>
                      </a:r>
                    </a:p>
                  </a:txBody>
                  <a:tcPr marL="73152" marR="45720" marT="18288" marB="18288" anchor="ctr"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iTransformer</a:t>
                      </a:r>
                    </a:p>
                  </a:txBody>
                  <a:tcPr marL="73152" marR="45720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73152" marR="45720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FFN</a:t>
                      </a:r>
                    </a:p>
                  </a:txBody>
                  <a:tcPr marL="73152" marR="45720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0.178</a:t>
                      </a:r>
                    </a:p>
                  </a:txBody>
                  <a:tcPr marL="73152" marR="45720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0.428</a:t>
                      </a:r>
                    </a:p>
                  </a:txBody>
                  <a:tcPr marL="73152" marR="45720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0.258</a:t>
                      </a:r>
                    </a:p>
                  </a:txBody>
                  <a:tcPr marL="73152" marR="45720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0.233</a:t>
                      </a:r>
                    </a:p>
                  </a:txBody>
                  <a:tcPr marL="73152" marR="45720" marT="18288" marB="18288" anchor="ctr">
                    <a:solidFill>
                      <a:srgbClr val="EAF1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Replace</a:t>
                      </a:r>
                    </a:p>
                  </a:txBody>
                  <a:tcPr marL="73152" marR="45720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73152" marR="45720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73152" marR="45720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0.193</a:t>
                      </a:r>
                    </a:p>
                  </a:txBody>
                  <a:tcPr marL="73152" marR="45720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0.913</a:t>
                      </a:r>
                    </a:p>
                  </a:txBody>
                  <a:tcPr marL="73152" marR="45720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0.255</a:t>
                      </a:r>
                    </a:p>
                  </a:txBody>
                  <a:tcPr marL="73152" marR="45720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0.261</a:t>
                      </a:r>
                    </a:p>
                  </a:txBody>
                  <a:tcPr marL="73152" marR="45720" marT="18288" marB="18288" anchor="ctr">
                    <a:solidFill>
                      <a:srgbClr val="F4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Replace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0.202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0.863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0.258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Replace</a:t>
                      </a:r>
                    </a:p>
                  </a:txBody>
                  <a:tcPr marL="73152" marR="45720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FFN</a:t>
                      </a:r>
                    </a:p>
                  </a:txBody>
                  <a:tcPr marL="73152" marR="45720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FFN</a:t>
                      </a:r>
                    </a:p>
                  </a:txBody>
                  <a:tcPr marL="73152" marR="45720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0.182</a:t>
                      </a:r>
                    </a:p>
                  </a:txBody>
                  <a:tcPr marL="73152" marR="45720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0.599</a:t>
                      </a:r>
                    </a:p>
                  </a:txBody>
                  <a:tcPr marL="73152" marR="45720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0.248</a:t>
                      </a:r>
                    </a:p>
                  </a:txBody>
                  <a:tcPr marL="73152" marR="45720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0.269</a:t>
                      </a:r>
                    </a:p>
                  </a:txBody>
                  <a:tcPr marL="73152" marR="45720" marT="18288" marB="18288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9646920" y="1691640"/>
            <a:ext cx="1764792" cy="173736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847088"/>
            <a:ext cx="14630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消融结论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原生组合在
Traffic 上
MSE 高达 0.913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033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表示学习：CKA 相似度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069080"/>
            <a:ext cx="5120640" cy="146304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4224528"/>
            <a:ext cx="4617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计算第一个与最后一个 Block 输出特征的 CKA 相似度。时序预测作为低层次生成任务，偏好更高的 CKA。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iTransformers 与 Transformer 变体之间出现清晰分界——倒置学到了更合适的序列表示。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069080"/>
            <a:ext cx="5102352" cy="146304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4224528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多变量相关性：注意力可解释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浅层注意力图与输入序列的相关性接近，随层数加深逐渐逼近未来序列的相关性，说明编码过去、解码未来都在序列表示中完成。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00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来源：Liu et al., iTransformer, ICLR 2024 · Table 3 / Figure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结论与启发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737360"/>
            <a:ext cx="10637215" cy="1078992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207568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7568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1883664"/>
            <a:ext cx="944849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倒置视角提供新范式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在不修改任何基本组件的前提下重新组织 Transformer，为时序预测骨干网络提供了新的设计维度。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44368"/>
            <a:ext cx="10637215" cy="1078992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3282696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8269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3090672"/>
            <a:ext cx="944849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性能、泛化、效率三者兼得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7 个数据集取得 SOTA；仅用 20% 变量训练即可预测全部变量；注意力转向变量维后可直接复用线性复杂度的高效注意力。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151376"/>
            <a:ext cx="10637215" cy="1078992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4489704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89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4297680"/>
            <a:ext cx="944849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注意力获得可解释性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变量维注意力矩阵即多变量相关矩阵，从黑箱预测走向可读的相关性结构。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321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启发：为多变量时序基础模型提供统一骨干——不同变量数的数据可以放在一起训练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00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来源：Liu et al., iTransformer, ICLR 2024 · §4.2 / §5 Conclusion · arXiv:2310.06625v4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